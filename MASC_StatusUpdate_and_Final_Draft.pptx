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71" r:id="rId5"/>
    <p:sldId id="269" r:id="rId6"/>
    <p:sldId id="277" r:id="rId7"/>
    <p:sldId id="282" r:id="rId8"/>
    <p:sldId id="285" r:id="rId9"/>
    <p:sldId id="278" r:id="rId10"/>
    <p:sldId id="281" r:id="rId11"/>
    <p:sldId id="286" r:id="rId12"/>
    <p:sldId id="279" r:id="rId13"/>
    <p:sldId id="275" r:id="rId14"/>
    <p:sldId id="280" r:id="rId15"/>
    <p:sldId id="276" r:id="rId16"/>
    <p:sldId id="284" r:id="rId17"/>
    <p:sldId id="268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159" dt="2026-10-01T17:04:35.123"/>
    <p1510:client id="{5D007ECE-AAE2-00C0-088B-0F799B1B0A41}" v="187" dt="2026-10-01T15:39:14.252"/>
    <p1510:client id="{6A22E358-126A-2BBA-75F7-392B6DE09EB9}" v="12" dt="2026-10-01T15:21:40.577"/>
    <p1510:client id="{8692CF6C-24DF-5721-FA87-2E8C581AD146}" v="3" dt="2026-10-01T15:54:05.017"/>
    <p1510:client id="{8BDE8E72-409A-3420-FF7C-DA538F588C2F}" v="15" dt="2026-10-01T18:43:54.178"/>
    <p1510:client id="{BF502C1C-5BE5-9BAE-9CDC-A483E0C20897}" v="23" dt="2026-10-01T21:04:42.3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wa Isola" userId="S::vishwa.isola@techiosoft.com::455d0734-e4bd-4d86-b80c-934d7e597a18" providerId="AD" clId="Web-{8BDE8E72-409A-3420-FF7C-DA538F588C2F}"/>
    <pc:docChg chg="modSld">
      <pc:chgData name="Vishwa Isola" userId="S::vishwa.isola@techiosoft.com::455d0734-e4bd-4d86-b80c-934d7e597a18" providerId="AD" clId="Web-{8BDE8E72-409A-3420-FF7C-DA538F588C2F}" dt="2026-10-01T18:43:53.553" v="13" actId="20577"/>
      <pc:docMkLst>
        <pc:docMk/>
      </pc:docMkLst>
      <pc:sldChg chg="modSp">
        <pc:chgData name="Vishwa Isola" userId="S::vishwa.isola@techiosoft.com::455d0734-e4bd-4d86-b80c-934d7e597a18" providerId="AD" clId="Web-{8BDE8E72-409A-3420-FF7C-DA538F588C2F}" dt="2026-10-01T18:43:53.553" v="13" actId="20577"/>
        <pc:sldMkLst>
          <pc:docMk/>
          <pc:sldMk cId="2927242993" sldId="276"/>
        </pc:sldMkLst>
        <pc:spChg chg="mod">
          <ac:chgData name="Vishwa Isola" userId="S::vishwa.isola@techiosoft.com::455d0734-e4bd-4d86-b80c-934d7e597a18" providerId="AD" clId="Web-{8BDE8E72-409A-3420-FF7C-DA538F588C2F}" dt="2026-10-01T18:43:53.553" v="13" actId="20577"/>
          <ac:spMkLst>
            <pc:docMk/>
            <pc:sldMk cId="2927242993" sldId="276"/>
            <ac:spMk id="31" creationId="{B2513667-4557-F310-23C4-1A4DFF1F924B}"/>
          </ac:spMkLst>
        </pc:spChg>
      </pc:sldChg>
    </pc:docChg>
  </pc:docChgLst>
  <pc:docChgLst>
    <pc:chgData name="Vishwa Isola" userId="S::vishwa.isola@techiosoft.com::455d0734-e4bd-4d86-b80c-934d7e597a18" providerId="AD" clId="Web-{00000000-0000-0000-0000-000000000000}"/>
    <pc:docChg chg="addSld modSld sldOrd">
      <pc:chgData name="Vishwa Isola" userId="S::vishwa.isola@techiosoft.com::455d0734-e4bd-4d86-b80c-934d7e597a18" providerId="AD" clId="Web-{00000000-0000-0000-0000-000000000000}" dt="2026-10-01T17:04:33.029" v="94" actId="20577"/>
      <pc:docMkLst>
        <pc:docMk/>
      </pc:docMkLst>
      <pc:sldChg chg="modSp">
        <pc:chgData name="Vishwa Isola" userId="S::vishwa.isola@techiosoft.com::455d0734-e4bd-4d86-b80c-934d7e597a18" providerId="AD" clId="Web-{00000000-0000-0000-0000-000000000000}" dt="2026-10-01T17:04:33.029" v="94" actId="20577"/>
        <pc:sldMkLst>
          <pc:docMk/>
          <pc:sldMk cId="2404327209" sldId="275"/>
        </pc:sldMkLst>
        <pc:spChg chg="mod">
          <ac:chgData name="Vishwa Isola" userId="S::vishwa.isola@techiosoft.com::455d0734-e4bd-4d86-b80c-934d7e597a18" providerId="AD" clId="Web-{00000000-0000-0000-0000-000000000000}" dt="2026-10-01T17:04:33.029" v="94" actId="20577"/>
          <ac:spMkLst>
            <pc:docMk/>
            <pc:sldMk cId="2404327209" sldId="275"/>
            <ac:spMk id="49" creationId="{5D8D3A3C-837F-E81F-6920-5C3CD9BBE683}"/>
          </ac:spMkLst>
        </pc:spChg>
      </pc:sldChg>
      <pc:sldChg chg="modSp">
        <pc:chgData name="Vishwa Isola" userId="S::vishwa.isola@techiosoft.com::455d0734-e4bd-4d86-b80c-934d7e597a18" providerId="AD" clId="Web-{00000000-0000-0000-0000-000000000000}" dt="2026-10-01T17:01:21.621" v="92" actId="20577"/>
        <pc:sldMkLst>
          <pc:docMk/>
          <pc:sldMk cId="3026094818" sldId="281"/>
        </pc:sldMkLst>
        <pc:spChg chg="mod">
          <ac:chgData name="Vishwa Isola" userId="S::vishwa.isola@techiosoft.com::455d0734-e4bd-4d86-b80c-934d7e597a18" providerId="AD" clId="Web-{00000000-0000-0000-0000-000000000000}" dt="2026-10-01T17:01:21.621" v="92" actId="20577"/>
          <ac:spMkLst>
            <pc:docMk/>
            <pc:sldMk cId="3026094818" sldId="281"/>
            <ac:spMk id="7" creationId="{CAF47FBB-044C-C506-186A-8FF4D5D237D2}"/>
          </ac:spMkLst>
        </pc:spChg>
      </pc:sldChg>
      <pc:sldChg chg="modSp">
        <pc:chgData name="Vishwa Isola" userId="S::vishwa.isola@techiosoft.com::455d0734-e4bd-4d86-b80c-934d7e597a18" providerId="AD" clId="Web-{00000000-0000-0000-0000-000000000000}" dt="2026-10-01T16:59:10.699" v="88" actId="20577"/>
        <pc:sldMkLst>
          <pc:docMk/>
          <pc:sldMk cId="2153242436" sldId="282"/>
        </pc:sldMkLst>
        <pc:spChg chg="mod">
          <ac:chgData name="Vishwa Isola" userId="S::vishwa.isola@techiosoft.com::455d0734-e4bd-4d86-b80c-934d7e597a18" providerId="AD" clId="Web-{00000000-0000-0000-0000-000000000000}" dt="2026-10-01T16:56:08.135" v="56" actId="20577"/>
          <ac:spMkLst>
            <pc:docMk/>
            <pc:sldMk cId="2153242436" sldId="282"/>
            <ac:spMk id="18" creationId="{00000000-0000-0000-0000-000000000000}"/>
          </ac:spMkLst>
        </pc:spChg>
        <pc:spChg chg="mod">
          <ac:chgData name="Vishwa Isola" userId="S::vishwa.isola@techiosoft.com::455d0734-e4bd-4d86-b80c-934d7e597a18" providerId="AD" clId="Web-{00000000-0000-0000-0000-000000000000}" dt="2026-10-01T16:56:22.369" v="59" actId="20577"/>
          <ac:spMkLst>
            <pc:docMk/>
            <pc:sldMk cId="2153242436" sldId="282"/>
            <ac:spMk id="21" creationId="{00000000-0000-0000-0000-000000000000}"/>
          </ac:spMkLst>
        </pc:spChg>
        <pc:spChg chg="mod">
          <ac:chgData name="Vishwa Isola" userId="S::vishwa.isola@techiosoft.com::455d0734-e4bd-4d86-b80c-934d7e597a18" providerId="AD" clId="Web-{00000000-0000-0000-0000-000000000000}" dt="2026-10-01T16:59:10.699" v="88" actId="20577"/>
          <ac:spMkLst>
            <pc:docMk/>
            <pc:sldMk cId="2153242436" sldId="282"/>
            <ac:spMk id="28" creationId="{00000000-0000-0000-0000-000000000000}"/>
          </ac:spMkLst>
        </pc:spChg>
      </pc:sldChg>
      <pc:sldChg chg="modSp">
        <pc:chgData name="Vishwa Isola" userId="S::vishwa.isola@techiosoft.com::455d0734-e4bd-4d86-b80c-934d7e597a18" providerId="AD" clId="Web-{00000000-0000-0000-0000-000000000000}" dt="2026-10-01T16:48:44.939" v="20" actId="20577"/>
        <pc:sldMkLst>
          <pc:docMk/>
          <pc:sldMk cId="0" sldId="285"/>
        </pc:sldMkLst>
        <pc:spChg chg="mod">
          <ac:chgData name="Vishwa Isola" userId="S::vishwa.isola@techiosoft.com::455d0734-e4bd-4d86-b80c-934d7e597a18" providerId="AD" clId="Web-{00000000-0000-0000-0000-000000000000}" dt="2026-10-01T16:48:13.939" v="2" actId="20577"/>
          <ac:spMkLst>
            <pc:docMk/>
            <pc:sldMk cId="0" sldId="285"/>
            <ac:spMk id="29" creationId="{00000000-0000-0000-0000-000000000000}"/>
          </ac:spMkLst>
        </pc:spChg>
        <pc:spChg chg="mod">
          <ac:chgData name="Vishwa Isola" userId="S::vishwa.isola@techiosoft.com::455d0734-e4bd-4d86-b80c-934d7e597a18" providerId="AD" clId="Web-{00000000-0000-0000-0000-000000000000}" dt="2026-10-01T16:48:44.939" v="20" actId="20577"/>
          <ac:spMkLst>
            <pc:docMk/>
            <pc:sldMk cId="0" sldId="285"/>
            <ac:spMk id="36" creationId="{00000000-0000-0000-0000-000000000000}"/>
          </ac:spMkLst>
        </pc:spChg>
      </pc:sldChg>
      <pc:sldChg chg="addSp modSp new ord">
        <pc:chgData name="Vishwa Isola" userId="S::vishwa.isola@techiosoft.com::455d0734-e4bd-4d86-b80c-934d7e597a18" providerId="AD" clId="Web-{00000000-0000-0000-0000-000000000000}" dt="2026-10-01T17:01:34.934" v="93"/>
        <pc:sldMkLst>
          <pc:docMk/>
          <pc:sldMk cId="1514808825" sldId="286"/>
        </pc:sldMkLst>
        <pc:spChg chg="add mod">
          <ac:chgData name="Vishwa Isola" userId="S::vishwa.isola@techiosoft.com::455d0734-e4bd-4d86-b80c-934d7e597a18" providerId="AD" clId="Web-{00000000-0000-0000-0000-000000000000}" dt="2026-10-01T16:58:22.589" v="87" actId="20577"/>
          <ac:spMkLst>
            <pc:docMk/>
            <pc:sldMk cId="1514808825" sldId="286"/>
            <ac:spMk id="4" creationId="{986DA57B-81E8-BE7B-1D8D-1E4B97CE91F5}"/>
          </ac:spMkLst>
        </pc:spChg>
        <pc:picChg chg="add mod modCrop">
          <ac:chgData name="Vishwa Isola" userId="S::vishwa.isola@techiosoft.com::455d0734-e4bd-4d86-b80c-934d7e597a18" providerId="AD" clId="Web-{00000000-0000-0000-0000-000000000000}" dt="2026-10-01T16:57:42.339" v="69" actId="14100"/>
          <ac:picMkLst>
            <pc:docMk/>
            <pc:sldMk cId="1514808825" sldId="286"/>
            <ac:picMk id="2" creationId="{C10CA388-F646-BABC-62D4-2C8F31B86FF0}"/>
          </ac:picMkLst>
        </pc:picChg>
        <pc:picChg chg="add mod modCrop">
          <ac:chgData name="Vishwa Isola" userId="S::vishwa.isola@techiosoft.com::455d0734-e4bd-4d86-b80c-934d7e597a18" providerId="AD" clId="Web-{00000000-0000-0000-0000-000000000000}" dt="2026-10-01T16:58:04.198" v="72" actId="1076"/>
          <ac:picMkLst>
            <pc:docMk/>
            <pc:sldMk cId="1514808825" sldId="286"/>
            <ac:picMk id="5" creationId="{6E064D65-8918-CAEB-9867-EB068301FAA7}"/>
          </ac:picMkLst>
        </pc:picChg>
      </pc:sldChg>
    </pc:docChg>
  </pc:docChgLst>
  <pc:docChgLst>
    <pc:chgData name="Vishwa Isola" userId="S::vishwa.isola@techiosoft.com::455d0734-e4bd-4d86-b80c-934d7e597a18" providerId="AD" clId="Web-{BF502C1C-5BE5-9BAE-9CDC-A483E0C20897}"/>
    <pc:docChg chg="modSld">
      <pc:chgData name="Vishwa Isola" userId="S::vishwa.isola@techiosoft.com::455d0734-e4bd-4d86-b80c-934d7e597a18" providerId="AD" clId="Web-{BF502C1C-5BE5-9BAE-9CDC-A483E0C20897}" dt="2026-10-01T21:04:40.940" v="11" actId="20577"/>
      <pc:docMkLst>
        <pc:docMk/>
      </pc:docMkLst>
      <pc:sldChg chg="modSp">
        <pc:chgData name="Vishwa Isola" userId="S::vishwa.isola@techiosoft.com::455d0734-e4bd-4d86-b80c-934d7e597a18" providerId="AD" clId="Web-{BF502C1C-5BE5-9BAE-9CDC-A483E0C20897}" dt="2026-10-01T21:04:40.940" v="11" actId="20577"/>
        <pc:sldMkLst>
          <pc:docMk/>
          <pc:sldMk cId="1169060998" sldId="284"/>
        </pc:sldMkLst>
        <pc:spChg chg="mod">
          <ac:chgData name="Vishwa Isola" userId="S::vishwa.isola@techiosoft.com::455d0734-e4bd-4d86-b80c-934d7e597a18" providerId="AD" clId="Web-{BF502C1C-5BE5-9BAE-9CDC-A483E0C20897}" dt="2026-10-01T21:04:40.940" v="11" actId="20577"/>
          <ac:spMkLst>
            <pc:docMk/>
            <pc:sldMk cId="1169060998" sldId="284"/>
            <ac:spMk id="87" creationId="{00000000-0000-0000-0000-000000000000}"/>
          </ac:spMkLst>
        </pc:spChg>
        <pc:spChg chg="mod">
          <ac:chgData name="Vishwa Isola" userId="S::vishwa.isola@techiosoft.com::455d0734-e4bd-4d86-b80c-934d7e597a18" providerId="AD" clId="Web-{BF502C1C-5BE5-9BAE-9CDC-A483E0C20897}" dt="2026-10-01T21:04:16.939" v="9" actId="20577"/>
          <ac:spMkLst>
            <pc:docMk/>
            <pc:sldMk cId="1169060998" sldId="284"/>
            <ac:spMk id="88" creationId="{00000000-0000-0000-0000-000000000000}"/>
          </ac:spMkLst>
        </pc:spChg>
        <pc:spChg chg="mod">
          <ac:chgData name="Vishwa Isola" userId="S::vishwa.isola@techiosoft.com::455d0734-e4bd-4d86-b80c-934d7e597a18" providerId="AD" clId="Web-{BF502C1C-5BE5-9BAE-9CDC-A483E0C20897}" dt="2026-10-01T21:04:05.939" v="1" actId="20577"/>
          <ac:spMkLst>
            <pc:docMk/>
            <pc:sldMk cId="1169060998" sldId="284"/>
            <ac:spMk id="9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ECB6F-0C09-4CDB-A18F-9815FD83276B}" type="datetimeFigureOut"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57B99-B904-40F2-AB0B-C8D32D805E3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970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How the 38% is calculated: the plan's build work (Phase 0 start Sep 10 to Phase 6 end Oct 29) is 34 business days (BC statutory holidays excluded). Completing all work by Oct 10 is 21 business days. 1 - 21/34 = 38%. Calendar days give the same result: 31 days vs 50 days. If demo and UAT handover (Nov 2) were counted in the baseline it would be 42%.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CL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0177"/>
            <a:ext cx="451510" cy="201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19022" y="491033"/>
            <a:ext cx="0" cy="219456"/>
          </a:xfrm>
          <a:prstGeom prst="line">
            <a:avLst/>
          </a:prstGeom>
          <a:noFill/>
          <a:ln w="12700">
            <a:solidFill>
              <a:srgbClr val="C5D0E0"/>
            </a:solidFill>
            <a:prstDash val="solid"/>
          </a:ln>
        </p:spPr>
      </p:sp>
      <p:pic>
        <p:nvPicPr>
          <p:cNvPr id="4" name="Image 1" descr="Microsof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614" y="518465"/>
            <a:ext cx="785083" cy="16459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233290" y="491033"/>
            <a:ext cx="0" cy="219456"/>
          </a:xfrm>
          <a:prstGeom prst="line">
            <a:avLst/>
          </a:prstGeom>
          <a:noFill/>
          <a:ln w="12700">
            <a:solidFill>
              <a:srgbClr val="C5D0E0"/>
            </a:solidFill>
            <a:prstDash val="solid"/>
          </a:ln>
        </p:spPr>
      </p:sp>
      <p:pic>
        <p:nvPicPr>
          <p:cNvPr id="6" name="Image 2" descr="TechIO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882" y="508678"/>
            <a:ext cx="731520" cy="18416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TECHIOSOFT SERVICES INC.</a:t>
            </a:r>
            <a:endParaRPr lang="en-US" sz="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54710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PA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CL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0177"/>
            <a:ext cx="451510" cy="201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19022" y="491033"/>
            <a:ext cx="0" cy="219456"/>
          </a:xfrm>
          <a:prstGeom prst="line">
            <a:avLst/>
          </a:prstGeom>
          <a:noFill/>
          <a:ln w="12700">
            <a:solidFill>
              <a:srgbClr val="C5D0E0"/>
            </a:solidFill>
            <a:prstDash val="solid"/>
          </a:ln>
        </p:spPr>
      </p:sp>
      <p:pic>
        <p:nvPicPr>
          <p:cNvPr id="4" name="Image 1" descr="Microsof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614" y="518465"/>
            <a:ext cx="785083" cy="16459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233290" y="491033"/>
            <a:ext cx="0" cy="219456"/>
          </a:xfrm>
          <a:prstGeom prst="line">
            <a:avLst/>
          </a:prstGeom>
          <a:noFill/>
          <a:ln w="12700">
            <a:solidFill>
              <a:srgbClr val="C5D0E0"/>
            </a:solidFill>
            <a:prstDash val="solid"/>
          </a:ln>
        </p:spPr>
      </p:sp>
      <p:pic>
        <p:nvPicPr>
          <p:cNvPr id="6" name="Image 2" descr="TechIO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882" y="508678"/>
            <a:ext cx="731520" cy="18416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TECHIOSOFT SERVICES INC.</a:t>
            </a:r>
            <a:endParaRPr lang="en-US" sz="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54710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4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54710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84B74-A897-5B8F-2BBB-CE425082D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F5B7D5-4713-3FFE-AEDF-49C75465A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53" y="239889"/>
            <a:ext cx="3013428" cy="575734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B42BD921-12A0-B5AF-2248-3EE82EF0C21B}"/>
              </a:ext>
            </a:extLst>
          </p:cNvPr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E7F0FE"/>
          </a:solidFill>
          <a:ln w="12700">
            <a:solidFill>
              <a:srgbClr val="E7F0FE"/>
            </a:solidFill>
            <a:prstDash val="solid"/>
          </a:ln>
        </p:spPr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B070D0E-AEF7-409C-2BB0-7934FFC55648}"/>
              </a:ext>
            </a:extLst>
          </p:cNvPr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6E6FC"/>
          </a:solidFill>
          <a:ln w="12700">
            <a:solidFill>
              <a:srgbClr val="D6E6FC"/>
            </a:solidFill>
            <a:prstDash val="solid"/>
          </a:ln>
        </p:spPr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76F50E04-C422-C88A-FF05-A81EFC731A4F}"/>
              </a:ext>
            </a:extLst>
          </p:cNvPr>
          <p:cNvSpPr/>
          <p:nvPr/>
        </p:nvSpPr>
        <p:spPr>
          <a:xfrm>
            <a:off x="-2286000" y="4480560"/>
            <a:ext cx="5029200" cy="5029200"/>
          </a:xfrm>
          <a:prstGeom prst="ellipse">
            <a:avLst/>
          </a:prstGeom>
          <a:solidFill>
            <a:srgbClr val="F1F6FE"/>
          </a:solidFill>
          <a:ln w="12700">
            <a:solidFill>
              <a:srgbClr val="F1F6FE"/>
            </a:solidFill>
            <a:prstDash val="solid"/>
          </a:ln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0894DF04-ECFC-EDE5-B657-7E7D47A5FEF3}"/>
              </a:ext>
            </a:extLst>
          </p:cNvPr>
          <p:cNvSpPr txBox="1"/>
          <p:nvPr/>
        </p:nvSpPr>
        <p:spPr>
          <a:xfrm>
            <a:off x="731520" y="26060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>
                <a:solidFill>
                  <a:srgbClr val="0A1628"/>
                </a:solidFill>
                <a:ea typeface="+mn-lt"/>
                <a:cs typeface="+mn-lt"/>
              </a:rPr>
              <a:t>MASC </a:t>
            </a:r>
            <a:r>
              <a:rPr lang="en-US" sz="4400" b="1" err="1">
                <a:solidFill>
                  <a:srgbClr val="0A1628"/>
                </a:solidFill>
                <a:ea typeface="+mn-lt"/>
                <a:cs typeface="+mn-lt"/>
              </a:rPr>
              <a:t>Client.Api</a:t>
            </a:r>
            <a:r>
              <a:rPr lang="en-US" sz="4400" b="1">
                <a:solidFill>
                  <a:srgbClr val="0A1628"/>
                </a:solidFill>
                <a:ea typeface="+mn-lt"/>
                <a:cs typeface="+mn-lt"/>
              </a:rPr>
              <a:t> Modernization</a:t>
            </a:r>
            <a:endParaRPr lang="en-US" sz="4400" b="1">
              <a:ea typeface="Calibri"/>
              <a:cs typeface="Calibri"/>
            </a:endParaRP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D94B4EC5-64AC-676F-92D5-2C5D19211752}"/>
              </a:ext>
            </a:extLst>
          </p:cNvPr>
          <p:cNvSpPr/>
          <p:nvPr/>
        </p:nvSpPr>
        <p:spPr>
          <a:xfrm>
            <a:off x="731520" y="4343400"/>
            <a:ext cx="1005840" cy="0"/>
          </a:xfrm>
          <a:prstGeom prst="line">
            <a:avLst/>
          </a:prstGeom>
          <a:noFill/>
          <a:ln w="38100">
            <a:solidFill>
              <a:srgbClr val="0C78F0"/>
            </a:solidFill>
            <a:prstDash val="solid"/>
          </a:ln>
        </p:spPr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1B0F6772-CE88-F023-0BE6-C73AE1460BBE}"/>
              </a:ext>
            </a:extLst>
          </p:cNvPr>
          <p:cNvSpPr txBox="1"/>
          <p:nvPr/>
        </p:nvSpPr>
        <p:spPr>
          <a:xfrm>
            <a:off x="73152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Prepared for MASC  •   Executive discussion   •   October 2026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B375282D-DF59-A28E-1C07-3B61CC82C1B3}"/>
              </a:ext>
            </a:extLst>
          </p:cNvPr>
          <p:cNvSpPr txBox="1"/>
          <p:nvPr/>
        </p:nvSpPr>
        <p:spPr>
          <a:xfrm>
            <a:off x="731520" y="35204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Demo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8554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D69B03-0851-8CEF-1E7C-A0ACB6ABC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53" y="239889"/>
            <a:ext cx="3013428" cy="575734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18DC25E2-E7F0-4931-4CBA-9DF8B6C71844}"/>
              </a:ext>
            </a:extLst>
          </p:cNvPr>
          <p:cNvSpPr txBox="1"/>
          <p:nvPr/>
        </p:nvSpPr>
        <p:spPr>
          <a:xfrm>
            <a:off x="502920" y="1051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1478546-9413-9FB9-A686-1094724D1E92}"/>
              </a:ext>
            </a:extLst>
          </p:cNvPr>
          <p:cNvSpPr txBox="1"/>
          <p:nvPr/>
        </p:nvSpPr>
        <p:spPr>
          <a:xfrm>
            <a:off x="502920" y="1950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5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1DF5C67-AF7C-8671-3C89-0E6D311A774D}"/>
              </a:ext>
            </a:extLst>
          </p:cNvPr>
          <p:cNvSpPr txBox="1"/>
          <p:nvPr/>
        </p:nvSpPr>
        <p:spPr>
          <a:xfrm>
            <a:off x="1325880" y="191342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Approach &amp; Agent Skills</a:t>
            </a:r>
            <a:endParaRPr lang="en-US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5379DF6-6156-8E5B-DB83-54246D73D766}"/>
              </a:ext>
            </a:extLst>
          </p:cNvPr>
          <p:cNvSpPr txBox="1"/>
          <p:nvPr/>
        </p:nvSpPr>
        <p:spPr>
          <a:xfrm>
            <a:off x="1325880" y="224260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A specialized agent for each job, not one black box</a:t>
            </a:r>
            <a:endParaRPr lang="en-US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C85A20C8-9F29-8233-2450-070685DD597E}"/>
              </a:ext>
            </a:extLst>
          </p:cNvPr>
          <p:cNvSpPr/>
          <p:nvPr/>
        </p:nvSpPr>
        <p:spPr>
          <a:xfrm>
            <a:off x="502920" y="2590000"/>
            <a:ext cx="676656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63DA2B24-1656-4DE8-30A3-3AA6C148DE5E}"/>
              </a:ext>
            </a:extLst>
          </p:cNvPr>
          <p:cNvSpPr txBox="1"/>
          <p:nvPr/>
        </p:nvSpPr>
        <p:spPr>
          <a:xfrm>
            <a:off x="502920" y="2650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5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6DDD388B-EA00-23FE-42C4-D2D9A527D0DA}"/>
              </a:ext>
            </a:extLst>
          </p:cNvPr>
          <p:cNvSpPr txBox="1"/>
          <p:nvPr/>
        </p:nvSpPr>
        <p:spPr>
          <a:xfrm>
            <a:off x="1325880" y="261342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0A1628"/>
                </a:solidFill>
                <a:ea typeface="+mn-lt"/>
                <a:cs typeface="+mn-lt"/>
              </a:rPr>
              <a:t>Humans in the Loop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019A84CC-3F01-3693-157C-53290427779E}"/>
              </a:ext>
            </a:extLst>
          </p:cNvPr>
          <p:cNvSpPr txBox="1"/>
          <p:nvPr/>
        </p:nvSpPr>
        <p:spPr>
          <a:xfrm>
            <a:off x="1325880" y="294260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TechioSoft's Tech Lead makes the risky calls</a:t>
            </a:r>
            <a:endParaRPr lang="en-US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26F38902-4390-E789-3285-DFA9DA8C43C6}"/>
              </a:ext>
            </a:extLst>
          </p:cNvPr>
          <p:cNvSpPr/>
          <p:nvPr/>
        </p:nvSpPr>
        <p:spPr>
          <a:xfrm>
            <a:off x="502920" y="3290000"/>
            <a:ext cx="676656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0A84886E-FE78-3F7D-7648-2EF0271F3022}"/>
              </a:ext>
            </a:extLst>
          </p:cNvPr>
          <p:cNvSpPr txBox="1"/>
          <p:nvPr/>
        </p:nvSpPr>
        <p:spPr>
          <a:xfrm>
            <a:off x="502920" y="3350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5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9A5DBD70-DDF4-9F10-FDC4-27FD51490C7E}"/>
              </a:ext>
            </a:extLst>
          </p:cNvPr>
          <p:cNvSpPr txBox="1"/>
          <p:nvPr/>
        </p:nvSpPr>
        <p:spPr>
          <a:xfrm>
            <a:off x="1325880" y="331342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0A1628"/>
                </a:solidFill>
                <a:ea typeface="+mn-lt"/>
                <a:cs typeface="+mn-lt"/>
              </a:rPr>
              <a:t>Stage Gates &amp; Risks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5682A23F-CF94-1AEB-3980-5704FAB7D4F9}"/>
              </a:ext>
            </a:extLst>
          </p:cNvPr>
          <p:cNvSpPr txBox="1"/>
          <p:nvPr/>
        </p:nvSpPr>
        <p:spPr>
          <a:xfrm>
            <a:off x="1325880" y="364260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Nothing risky merges without passing a gate</a:t>
            </a:r>
            <a:endParaRPr lang="en-US"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BC42FF12-CBBD-B88E-CEA0-72844E3E6188}"/>
              </a:ext>
            </a:extLst>
          </p:cNvPr>
          <p:cNvSpPr/>
          <p:nvPr/>
        </p:nvSpPr>
        <p:spPr>
          <a:xfrm>
            <a:off x="502920" y="3990000"/>
            <a:ext cx="676656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E0F5F9BA-439E-9E7F-CAA7-997AE068127A}"/>
              </a:ext>
            </a:extLst>
          </p:cNvPr>
          <p:cNvSpPr txBox="1"/>
          <p:nvPr/>
        </p:nvSpPr>
        <p:spPr>
          <a:xfrm>
            <a:off x="502920" y="4050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5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71183F04-7559-0655-EB7F-21B44850ABD7}"/>
              </a:ext>
            </a:extLst>
          </p:cNvPr>
          <p:cNvSpPr txBox="1"/>
          <p:nvPr/>
        </p:nvSpPr>
        <p:spPr>
          <a:xfrm>
            <a:off x="1325880" y="401342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0A1628"/>
                </a:solidFill>
                <a:ea typeface="+mn-lt"/>
                <a:cs typeface="+mn-lt"/>
              </a:rPr>
              <a:t>Prompts → Outputs → Refinement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9526D95E-56B7-DC3E-A8D5-2FD6DA4E8075}"/>
              </a:ext>
            </a:extLst>
          </p:cNvPr>
          <p:cNvSpPr txBox="1"/>
          <p:nvPr/>
        </p:nvSpPr>
        <p:spPr>
          <a:xfrm>
            <a:off x="1325880" y="434260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How a request becomes a reviewed change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F75E189E-B7A0-2673-6C13-E6BCAC09805E}"/>
              </a:ext>
            </a:extLst>
          </p:cNvPr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2">
            <a:extLst>
              <a:ext uri="{FF2B5EF4-FFF2-40B4-BE49-F238E27FC236}">
                <a16:creationId xmlns:a16="http://schemas.microsoft.com/office/drawing/2014/main" id="{AE2FEFC4-B453-913D-1208-59B446003483}"/>
              </a:ext>
            </a:extLst>
          </p:cNvPr>
          <p:cNvSpPr txBox="1"/>
          <p:nvPr/>
        </p:nvSpPr>
        <p:spPr>
          <a:xfrm>
            <a:off x="818388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>
                <a:solidFill>
                  <a:srgbClr val="8F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</a:t>
            </a:r>
            <a:endParaRPr lang="en-US" sz="1050"/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9140069E-9228-DEA6-423D-BD579534464C}"/>
              </a:ext>
            </a:extLst>
          </p:cNvPr>
          <p:cNvSpPr txBox="1"/>
          <p:nvPr/>
        </p:nvSpPr>
        <p:spPr>
          <a:xfrm>
            <a:off x="8183880" y="32004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00" b="1">
                <a:solidFill>
                  <a:srgbClr val="FFFFFF"/>
                </a:solidFill>
                <a:latin typeface="Cambria"/>
                <a:ea typeface="Cambria"/>
              </a:rPr>
              <a:t>Status Updates &amp; Demo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EB9165-3444-BB5A-F013-E572BFC11B89}"/>
              </a:ext>
            </a:extLst>
          </p:cNvPr>
          <p:cNvSpPr txBox="1"/>
          <p:nvPr/>
        </p:nvSpPr>
        <p:spPr>
          <a:xfrm>
            <a:off x="502815" y="6375918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Techiosoft</a:t>
            </a:r>
            <a:r>
              <a:rPr lang="en-US" sz="1600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 Systems Inc.</a:t>
            </a:r>
          </a:p>
        </p:txBody>
      </p:sp>
      <p:sp>
        <p:nvSpPr>
          <p:cNvPr id="42" name="Text 17"/>
          <p:cNvSpPr txBox="1"/>
          <p:nvPr/>
        </p:nvSpPr>
        <p:spPr>
          <a:xfrm>
            <a:off x="502920" y="4750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5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/>
          </a:p>
        </p:txBody>
      </p:sp>
      <p:sp>
        <p:nvSpPr>
          <p:cNvPr id="43" name="Text 18"/>
          <p:cNvSpPr txBox="1"/>
          <p:nvPr/>
        </p:nvSpPr>
        <p:spPr>
          <a:xfrm>
            <a:off x="1325880" y="471342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0A1628"/>
                </a:solidFill>
                <a:ea typeface="+mn-lt"/>
                <a:cs typeface="+mn-lt"/>
              </a:rPr>
              <a:t>Reviews, Quality &amp; Security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44" name="Text 19"/>
          <p:cNvSpPr txBox="1"/>
          <p:nvPr/>
        </p:nvSpPr>
        <p:spPr>
          <a:xfrm>
            <a:off x="1325880" y="504260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Real-data testing found what compilers couldn't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5" name="Text 17"/>
          <p:cNvSpPr txBox="1"/>
          <p:nvPr/>
        </p:nvSpPr>
        <p:spPr>
          <a:xfrm>
            <a:off x="502920" y="5450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5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/>
          </a:p>
        </p:txBody>
      </p:sp>
      <p:sp>
        <p:nvSpPr>
          <p:cNvPr id="46" name="Text 18"/>
          <p:cNvSpPr txBox="1"/>
          <p:nvPr/>
        </p:nvSpPr>
        <p:spPr>
          <a:xfrm>
            <a:off x="1325880" y="541342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0A1628"/>
                </a:solidFill>
                <a:ea typeface="+mn-lt"/>
                <a:cs typeface="+mn-lt"/>
              </a:rPr>
              <a:t>Progress, Timeline &amp; What's Next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47" name="Text 19"/>
          <p:cNvSpPr txBox="1"/>
          <p:nvPr/>
        </p:nvSpPr>
        <p:spPr>
          <a:xfrm>
            <a:off x="1325880" y="574260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Ahead of plan; deployment and sign-off remain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8" name="Shape 15"/>
          <p:cNvSpPr/>
          <p:nvPr/>
        </p:nvSpPr>
        <p:spPr>
          <a:xfrm>
            <a:off x="502920" y="5390000"/>
            <a:ext cx="676656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15"/>
          <p:cNvSpPr/>
          <p:nvPr/>
        </p:nvSpPr>
        <p:spPr>
          <a:xfrm>
            <a:off x="502920" y="4690000"/>
            <a:ext cx="6766560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9353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99683-73BD-FB62-B671-7F85E675C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9ECA28-8B63-3100-A5D7-5C454D883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53" y="239889"/>
            <a:ext cx="3013428" cy="575734"/>
          </a:xfrm>
          <a:prstGeom prst="rect">
            <a:avLst/>
          </a:prstGeom>
        </p:spPr>
      </p:pic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87EE846B-CB58-64E1-D3A5-94AB79096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071215"/>
              </p:ext>
            </p:extLst>
          </p:nvPr>
        </p:nvGraphicFramePr>
        <p:xfrm>
          <a:off x="906759" y="2285531"/>
          <a:ext cx="4342886" cy="2591005"/>
        </p:xfrm>
        <a:graphic>
          <a:graphicData uri="http://schemas.openxmlformats.org/drawingml/2006/table">
            <a:tbl>
              <a:tblPr/>
              <a:tblGrid>
                <a:gridCol w="1978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4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1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Agent / Skills</a:t>
                      </a:r>
                      <a:endParaRPr lang="en-US" sz="12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Role</a:t>
                      </a:r>
                      <a:endParaRPr lang="en-US" sz="1200" b="1"/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7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A1628"/>
                          </a:solidFill>
                        </a:rPr>
                        <a:t>Modernization Lead</a:t>
                      </a: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2B3A52"/>
                          </a:solidFill>
                        </a:rPr>
                        <a:t>Orchestrates the plan, one unit at a time</a:t>
                      </a:r>
                      <a:endParaRPr lang="en-US" sz="1200"/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A1628"/>
                          </a:solidFill>
                          <a:latin typeface="Calibri"/>
                          <a:ea typeface="Calibri"/>
                          <a:cs typeface="Calibri"/>
                        </a:rPr>
                        <a:t>State Tracker</a:t>
                      </a: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2B3A52"/>
                          </a:solidFill>
                        </a:rPr>
                        <a:t>Single source of truth — live progress dashboard</a:t>
                      </a:r>
                      <a:endParaRPr lang="en-US" sz="1200"/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A1628"/>
                          </a:solidFill>
                          <a:latin typeface="Calibri"/>
                          <a:ea typeface="Calibri"/>
                          <a:cs typeface="Calibri"/>
                        </a:rPr>
                        <a:t>Branch &amp; PR Orchestrator</a:t>
                      </a: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2B3A52"/>
                          </a:solidFill>
                        </a:rPr>
                        <a:t>One branch/PR per unit + self-healing build loop</a:t>
                      </a:r>
                      <a:endParaRPr lang="en-US" sz="1200"/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A1628"/>
                          </a:solidFill>
                          <a:latin typeface="Calibri"/>
                          <a:ea typeface="Calibri"/>
                          <a:cs typeface="Calibri"/>
                        </a:rPr>
                        <a:t>Vertical-Slice / Parity Validator</a:t>
                      </a: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2B3A52"/>
                          </a:solidFill>
                        </a:rPr>
                        <a:t>Generates &amp; checks each feature slice</a:t>
                      </a:r>
                      <a:endParaRPr lang="en-US" sz="1200"/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A1628"/>
                          </a:solidFill>
                          <a:latin typeface="Calibri"/>
                          <a:ea typeface="Calibri"/>
                          <a:cs typeface="Calibri"/>
                        </a:rPr>
                        <a:t>Security Review</a:t>
                      </a: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2B3A52"/>
                          </a:solidFill>
                        </a:rPr>
                        <a:t>Vulnerability + dependency scanning</a:t>
                      </a:r>
                      <a:endParaRPr lang="en-US" sz="1200"/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1">
            <a:extLst>
              <a:ext uri="{FF2B5EF4-FFF2-40B4-BE49-F238E27FC236}">
                <a16:creationId xmlns:a16="http://schemas.microsoft.com/office/drawing/2014/main" id="{8AA4517A-923D-1800-C739-37A4D4CEDD09}"/>
              </a:ext>
            </a:extLst>
          </p:cNvPr>
          <p:cNvSpPr txBox="1"/>
          <p:nvPr/>
        </p:nvSpPr>
        <p:spPr>
          <a:xfrm>
            <a:off x="502920" y="105156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A1628"/>
                </a:solidFill>
                <a:ea typeface="+mn-lt"/>
                <a:cs typeface="+mn-lt"/>
              </a:rPr>
              <a:t>The Approach: Modernization Agents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55602862-C737-DF78-8D4D-05A127B1EBA8}"/>
              </a:ext>
            </a:extLst>
          </p:cNvPr>
          <p:cNvSpPr txBox="1"/>
          <p:nvPr/>
        </p:nvSpPr>
        <p:spPr>
          <a:xfrm>
            <a:off x="502920" y="1641079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B6B82"/>
                </a:solidFill>
                <a:ea typeface="+mn-lt"/>
                <a:cs typeface="+mn-lt"/>
              </a:rPr>
              <a:t>A specialized agent for each job — not one black box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1" name="Shape 17">
            <a:extLst>
              <a:ext uri="{FF2B5EF4-FFF2-40B4-BE49-F238E27FC236}">
                <a16:creationId xmlns:a16="http://schemas.microsoft.com/office/drawing/2014/main" id="{16B7FC73-428B-DCA5-B2CF-155639633033}"/>
              </a:ext>
            </a:extLst>
          </p:cNvPr>
          <p:cNvSpPr/>
          <p:nvPr/>
        </p:nvSpPr>
        <p:spPr>
          <a:xfrm>
            <a:off x="6436360" y="2286000"/>
            <a:ext cx="4251960" cy="2548709"/>
          </a:xfrm>
          <a:prstGeom prst="roundRect">
            <a:avLst>
              <a:gd name="adj" fmla="val 2162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4DE1B525-2EBF-570B-4721-2B883C32302F}"/>
              </a:ext>
            </a:extLst>
          </p:cNvPr>
          <p:cNvSpPr txBox="1"/>
          <p:nvPr/>
        </p:nvSpPr>
        <p:spPr>
          <a:xfrm>
            <a:off x="6834984" y="2569650"/>
            <a:ext cx="3454400" cy="1966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>
                <a:solidFill>
                  <a:srgbClr val="FFFFFF"/>
                </a:solidFill>
                <a:ea typeface="+mn-lt"/>
                <a:cs typeface="+mn-lt"/>
              </a:rPr>
              <a:t>Each agent has a narrow, auditable responsibility. The TechioSoft Tech Lead prompts, agents execute, and the Tech Lead reviews and approves.</a:t>
            </a:r>
            <a:endParaRPr lang="en-US" sz="2400" b="1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1CDD4F-DF68-6C40-ABFA-39E0EA50E561}"/>
              </a:ext>
            </a:extLst>
          </p:cNvPr>
          <p:cNvSpPr txBox="1"/>
          <p:nvPr/>
        </p:nvSpPr>
        <p:spPr>
          <a:xfrm>
            <a:off x="502815" y="6375918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Techiosoft</a:t>
            </a:r>
            <a:r>
              <a:rPr lang="en-US" sz="1600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 Systems Inc.</a:t>
            </a:r>
          </a:p>
        </p:txBody>
      </p:sp>
    </p:spTree>
    <p:extLst>
      <p:ext uri="{BB962C8B-B14F-4D97-AF65-F5344CB8AC3E}">
        <p14:creationId xmlns:p14="http://schemas.microsoft.com/office/powerpoint/2010/main" val="2611773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CAA71-6C3C-158E-F5A6-0C10DAF2C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FF7245-726F-5052-E855-544843645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53" y="239889"/>
            <a:ext cx="3013428" cy="57573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D5A8F649-0CC6-676E-3DC5-16D5F5830D6A}"/>
              </a:ext>
            </a:extLst>
          </p:cNvPr>
          <p:cNvSpPr txBox="1"/>
          <p:nvPr/>
        </p:nvSpPr>
        <p:spPr>
          <a:xfrm>
            <a:off x="502920" y="105156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A1628"/>
                </a:solidFill>
                <a:ea typeface="Calibri"/>
                <a:cs typeface="Calibri"/>
              </a:rPr>
              <a:t>Agent Skills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06339-A8B3-526B-B1AE-306222F09918}"/>
              </a:ext>
            </a:extLst>
          </p:cNvPr>
          <p:cNvSpPr txBox="1"/>
          <p:nvPr/>
        </p:nvSpPr>
        <p:spPr>
          <a:xfrm>
            <a:off x="502815" y="6375918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Techiosoft</a:t>
            </a:r>
            <a:r>
              <a:rPr lang="en-US" sz="1600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 Systems Inc.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55602862-C737-DF78-8D4D-05A127B1EBA8}"/>
              </a:ext>
            </a:extLst>
          </p:cNvPr>
          <p:cNvSpPr txBox="1"/>
          <p:nvPr/>
        </p:nvSpPr>
        <p:spPr>
          <a:xfrm>
            <a:off x="502920" y="1641079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B6B82"/>
                </a:solidFill>
                <a:ea typeface="+mn-lt"/>
                <a:cs typeface="+mn-lt"/>
              </a:rPr>
              <a:t>Five skills, each with a narrow job and a built-in guardrail. TechioSoft reviews what each one produces.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0" name="Hdr Skill"/>
          <p:cNvSpPr txBox="1"/>
          <p:nvPr/>
        </p:nvSpPr>
        <p:spPr>
          <a:xfrm>
            <a:off x="502920" y="2150000"/>
            <a:ext cx="235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5B6B82"/>
                </a:solidFill>
              </a:rPr>
              <a:t>Skill</a:t>
            </a:r>
          </a:p>
        </p:txBody>
      </p:sp>
      <p:sp>
        <p:nvSpPr>
          <p:cNvPr id="11" name="Hdr What it does"/>
          <p:cNvSpPr txBox="1"/>
          <p:nvPr/>
        </p:nvSpPr>
        <p:spPr>
          <a:xfrm>
            <a:off x="3002920" y="2150000"/>
            <a:ext cx="295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5B6B82"/>
                </a:solidFill>
              </a:rPr>
              <a:t>What it does</a:t>
            </a:r>
          </a:p>
        </p:txBody>
      </p:sp>
      <p:sp>
        <p:nvSpPr>
          <p:cNvPr id="12" name="Hdr Guardrail built in"/>
          <p:cNvSpPr txBox="1"/>
          <p:nvPr/>
        </p:nvSpPr>
        <p:spPr>
          <a:xfrm>
            <a:off x="6102920" y="2150000"/>
            <a:ext cx="30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5B6B82"/>
                </a:solidFill>
              </a:rPr>
              <a:t>Guardrail built in</a:t>
            </a:r>
          </a:p>
        </p:txBody>
      </p:sp>
      <p:sp>
        <p:nvSpPr>
          <p:cNvPr id="13" name="Hdr What TechioSoft reviews"/>
          <p:cNvSpPr txBox="1"/>
          <p:nvPr/>
        </p:nvSpPr>
        <p:spPr>
          <a:xfrm>
            <a:off x="9252920" y="2150000"/>
            <a:ext cx="245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5B6B82"/>
                </a:solidFill>
              </a:rPr>
              <a:t>What TechioSoft reviews</a:t>
            </a:r>
          </a:p>
        </p:txBody>
      </p:sp>
      <p:sp>
        <p:nvSpPr>
          <p:cNvPr id="14" name="Band 1"/>
          <p:cNvSpPr/>
          <p:nvPr/>
        </p:nvSpPr>
        <p:spPr>
          <a:xfrm>
            <a:off x="502920" y="2450000"/>
            <a:ext cx="11201400" cy="720000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kill 1"/>
          <p:cNvSpPr/>
          <p:nvPr/>
        </p:nvSpPr>
        <p:spPr>
          <a:xfrm>
            <a:off x="562920" y="2520000"/>
            <a:ext cx="2250000" cy="5800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rIns="10000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Modernization Lead</a:t>
            </a:r>
          </a:p>
        </p:txBody>
      </p:sp>
      <p:sp>
        <p:nvSpPr>
          <p:cNvPr id="16" name="Cell 1"/>
          <p:cNvSpPr txBox="1"/>
          <p:nvPr/>
        </p:nvSpPr>
        <p:spPr>
          <a:xfrm>
            <a:off x="3002920" y="2490000"/>
            <a:ext cx="295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A1628"/>
                </a:solidFill>
              </a:rPr>
              <a:t>Orchestrates the plan: decides what, when, who and on which branch.</a:t>
            </a:r>
          </a:p>
        </p:txBody>
      </p:sp>
      <p:sp>
        <p:nvSpPr>
          <p:cNvPr id="17" name="Cell 1"/>
          <p:cNvSpPr txBox="1"/>
          <p:nvPr/>
        </p:nvSpPr>
        <p:spPr>
          <a:xfrm>
            <a:off x="6102920" y="2490000"/>
            <a:ext cx="300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A1628"/>
                </a:solidFill>
              </a:rPr>
              <a:t>Never writes production source code.</a:t>
            </a:r>
          </a:p>
        </p:txBody>
      </p:sp>
      <p:sp>
        <p:nvSpPr>
          <p:cNvPr id="18" name="Cell 1"/>
          <p:cNvSpPr txBox="1"/>
          <p:nvPr/>
        </p:nvSpPr>
        <p:spPr>
          <a:xfrm>
            <a:off x="9252920" y="2633028"/>
            <a:ext cx="245000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50" b="0">
                <a:solidFill>
                  <a:srgbClr val="0A1628"/>
                </a:solidFill>
              </a:rPr>
              <a:t>A reviewable PR for every stage, with </a:t>
            </a:r>
            <a:r>
              <a:rPr lang="en-US" sz="1150">
                <a:solidFill>
                  <a:srgbClr val="0A1628"/>
                </a:solidFill>
              </a:rPr>
              <a:t>auto generated</a:t>
            </a:r>
            <a:r>
              <a:rPr sz="1150" b="0">
                <a:solidFill>
                  <a:srgbClr val="0A1628"/>
                </a:solidFill>
              </a:rPr>
              <a:t> docs</a:t>
            </a:r>
          </a:p>
        </p:txBody>
      </p:sp>
      <p:sp>
        <p:nvSpPr>
          <p:cNvPr id="19" name="Skill 2"/>
          <p:cNvSpPr/>
          <p:nvPr/>
        </p:nvSpPr>
        <p:spPr>
          <a:xfrm>
            <a:off x="562920" y="3240000"/>
            <a:ext cx="2250000" cy="5800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rIns="10000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State Tracker</a:t>
            </a:r>
          </a:p>
        </p:txBody>
      </p:sp>
      <p:sp>
        <p:nvSpPr>
          <p:cNvPr id="20" name="Cell 2"/>
          <p:cNvSpPr txBox="1"/>
          <p:nvPr/>
        </p:nvSpPr>
        <p:spPr>
          <a:xfrm>
            <a:off x="3002920" y="3210000"/>
            <a:ext cx="295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A1628"/>
                </a:solidFill>
              </a:rPr>
              <a:t>Single source of truth for all 14 slices. Powers the live progress dashboard.</a:t>
            </a:r>
          </a:p>
        </p:txBody>
      </p:sp>
      <p:sp>
        <p:nvSpPr>
          <p:cNvPr id="21" name="Cell 2"/>
          <p:cNvSpPr txBox="1"/>
          <p:nvPr/>
        </p:nvSpPr>
        <p:spPr>
          <a:xfrm>
            <a:off x="6102920" y="3353028"/>
            <a:ext cx="300000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50" b="0">
                <a:solidFill>
                  <a:srgbClr val="0A1628"/>
                </a:solidFill>
              </a:rPr>
              <a:t>A </a:t>
            </a:r>
            <a:r>
              <a:rPr lang="en-US" sz="1150">
                <a:solidFill>
                  <a:srgbClr val="0A1628"/>
                </a:solidFill>
              </a:rPr>
              <a:t>validate gate</a:t>
            </a:r>
            <a:r>
              <a:rPr sz="1150" b="0">
                <a:solidFill>
                  <a:srgbClr val="0A1628"/>
                </a:solidFill>
              </a:rPr>
              <a:t> enforces slicing rules R1–R10 before any phase or slice moves.</a:t>
            </a:r>
          </a:p>
        </p:txBody>
      </p:sp>
      <p:sp>
        <p:nvSpPr>
          <p:cNvPr id="22" name="Cell 2"/>
          <p:cNvSpPr txBox="1"/>
          <p:nvPr/>
        </p:nvSpPr>
        <p:spPr>
          <a:xfrm>
            <a:off x="9252920" y="3210000"/>
            <a:ext cx="245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A1628"/>
                </a:solidFill>
              </a:rPr>
              <a:t>Live progress dashboard</a:t>
            </a:r>
          </a:p>
        </p:txBody>
      </p:sp>
      <p:sp>
        <p:nvSpPr>
          <p:cNvPr id="23" name="Band 3"/>
          <p:cNvSpPr/>
          <p:nvPr/>
        </p:nvSpPr>
        <p:spPr>
          <a:xfrm>
            <a:off x="502920" y="3890000"/>
            <a:ext cx="11201400" cy="720000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Skill 3"/>
          <p:cNvSpPr/>
          <p:nvPr/>
        </p:nvSpPr>
        <p:spPr>
          <a:xfrm>
            <a:off x="562920" y="3960000"/>
            <a:ext cx="2250000" cy="5800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rIns="10000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Branch &amp; PR Orchestrator</a:t>
            </a:r>
          </a:p>
        </p:txBody>
      </p:sp>
      <p:sp>
        <p:nvSpPr>
          <p:cNvPr id="25" name="Cell 3"/>
          <p:cNvSpPr txBox="1"/>
          <p:nvPr/>
        </p:nvSpPr>
        <p:spPr>
          <a:xfrm>
            <a:off x="3002920" y="3930000"/>
            <a:ext cx="295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A1628"/>
                </a:solidFill>
              </a:rPr>
              <a:t>Opens one branch and one PR per stage. Runs the self-healing build loop.</a:t>
            </a:r>
          </a:p>
        </p:txBody>
      </p:sp>
      <p:sp>
        <p:nvSpPr>
          <p:cNvPr id="26" name="Cell 3"/>
          <p:cNvSpPr txBox="1"/>
          <p:nvPr/>
        </p:nvSpPr>
        <p:spPr>
          <a:xfrm>
            <a:off x="6102920" y="3930000"/>
            <a:ext cx="300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A1628"/>
                </a:solidFill>
              </a:rPr>
              <a:t>No silent commits to main. Up to 5 fix retries, then a draft PR with the failure log.</a:t>
            </a:r>
          </a:p>
        </p:txBody>
      </p:sp>
      <p:sp>
        <p:nvSpPr>
          <p:cNvPr id="27" name="Cell 3"/>
          <p:cNvSpPr txBox="1"/>
          <p:nvPr/>
        </p:nvSpPr>
        <p:spPr>
          <a:xfrm>
            <a:off x="9252920" y="3930000"/>
            <a:ext cx="245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A1628"/>
                </a:solidFill>
              </a:rPr>
              <a:t>PR summary, test and parity reports, self-healing log, state diff</a:t>
            </a:r>
          </a:p>
        </p:txBody>
      </p:sp>
      <p:sp>
        <p:nvSpPr>
          <p:cNvPr id="28" name="Skill 4"/>
          <p:cNvSpPr/>
          <p:nvPr/>
        </p:nvSpPr>
        <p:spPr>
          <a:xfrm>
            <a:off x="562920" y="4680000"/>
            <a:ext cx="2250000" cy="5800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45720" rIns="100000" bIns="4572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Vertical Slice</a:t>
            </a:r>
            <a:r>
              <a:rPr sz="1300" b="1">
                <a:solidFill>
                  <a:srgbClr val="FFFFFF"/>
                </a:solidFill>
              </a:rPr>
              <a:t> / Parity Validator</a:t>
            </a:r>
          </a:p>
        </p:txBody>
      </p:sp>
      <p:sp>
        <p:nvSpPr>
          <p:cNvPr id="29" name="Cell 4"/>
          <p:cNvSpPr txBox="1"/>
          <p:nvPr/>
        </p:nvSpPr>
        <p:spPr>
          <a:xfrm>
            <a:off x="3002920" y="4650000"/>
            <a:ext cx="295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A1628"/>
                </a:solidFill>
              </a:rPr>
              <a:t>Generates and checks each feature slice end to end, from domain to web and tests.</a:t>
            </a:r>
          </a:p>
        </p:txBody>
      </p:sp>
      <p:sp>
        <p:nvSpPr>
          <p:cNvPr id="30" name="Cell 4"/>
          <p:cNvSpPr txBox="1"/>
          <p:nvPr/>
        </p:nvSpPr>
        <p:spPr>
          <a:xfrm>
            <a:off x="6102920" y="4650000"/>
            <a:ext cx="300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A1628"/>
                </a:solidFill>
              </a:rPr>
              <a:t>Slices come from analysis of the legacy app. One owner per slice, with parity sign-off.</a:t>
            </a:r>
          </a:p>
        </p:txBody>
      </p:sp>
      <p:sp>
        <p:nvSpPr>
          <p:cNvPr id="31" name="Cell 4"/>
          <p:cNvSpPr txBox="1"/>
          <p:nvPr/>
        </p:nvSpPr>
        <p:spPr>
          <a:xfrm>
            <a:off x="9252920" y="4650000"/>
            <a:ext cx="245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A1628"/>
                </a:solidFill>
              </a:rPr>
              <a:t>Parity report for each slice</a:t>
            </a:r>
          </a:p>
        </p:txBody>
      </p:sp>
      <p:sp>
        <p:nvSpPr>
          <p:cNvPr id="32" name="Band 5"/>
          <p:cNvSpPr/>
          <p:nvPr/>
        </p:nvSpPr>
        <p:spPr>
          <a:xfrm>
            <a:off x="502920" y="5330000"/>
            <a:ext cx="11201400" cy="720000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Skill 5"/>
          <p:cNvSpPr/>
          <p:nvPr/>
        </p:nvSpPr>
        <p:spPr>
          <a:xfrm>
            <a:off x="562920" y="5400000"/>
            <a:ext cx="2250000" cy="5800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rIns="10000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Security Review</a:t>
            </a:r>
          </a:p>
        </p:txBody>
      </p:sp>
      <p:sp>
        <p:nvSpPr>
          <p:cNvPr id="34" name="Cell 5"/>
          <p:cNvSpPr txBox="1"/>
          <p:nvPr/>
        </p:nvSpPr>
        <p:spPr>
          <a:xfrm>
            <a:off x="3002920" y="5370000"/>
            <a:ext cx="295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A1628"/>
                </a:solidFill>
              </a:rPr>
              <a:t>Scans code and dependencies for vulnerabilities.</a:t>
            </a:r>
          </a:p>
        </p:txBody>
      </p:sp>
      <p:sp>
        <p:nvSpPr>
          <p:cNvPr id="35" name="Cell 5"/>
          <p:cNvSpPr txBox="1"/>
          <p:nvPr/>
        </p:nvSpPr>
        <p:spPr>
          <a:xfrm>
            <a:off x="6102920" y="5370000"/>
            <a:ext cx="300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A1628"/>
                </a:solidFill>
              </a:rPr>
              <a:t>Runs as a gate in the workflow. Security changes need a human to merge.</a:t>
            </a:r>
          </a:p>
        </p:txBody>
      </p:sp>
      <p:sp>
        <p:nvSpPr>
          <p:cNvPr id="36" name="Cell 5"/>
          <p:cNvSpPr txBox="1"/>
          <p:nvPr/>
        </p:nvSpPr>
        <p:spPr>
          <a:xfrm>
            <a:off x="9252920" y="5370000"/>
            <a:ext cx="245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0A1628"/>
                </a:solidFill>
              </a:rPr>
              <a:t>Scan findings, e.g. a vulnerable Graph dependency pinned away from a known CVE</a:t>
            </a:r>
          </a:p>
        </p:txBody>
      </p:sp>
    </p:spTree>
    <p:extLst>
      <p:ext uri="{BB962C8B-B14F-4D97-AF65-F5344CB8AC3E}">
        <p14:creationId xmlns:p14="http://schemas.microsoft.com/office/powerpoint/2010/main" val="2153242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5FD462-D2A0-5BE4-87C4-D41A98979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53" y="239889"/>
            <a:ext cx="3013428" cy="575734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9B7D077D-A639-63CD-1062-012454D39199}"/>
              </a:ext>
            </a:extLst>
          </p:cNvPr>
          <p:cNvSpPr txBox="1"/>
          <p:nvPr/>
        </p:nvSpPr>
        <p:spPr>
          <a:xfrm>
            <a:off x="502920" y="105156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A1628"/>
                </a:solidFill>
                <a:ea typeface="+mn-lt"/>
                <a:cs typeface="+mn-lt"/>
              </a:rPr>
              <a:t>Humans in the Loop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3E976F3-CD40-F2E8-7811-84D046438F08}"/>
              </a:ext>
            </a:extLst>
          </p:cNvPr>
          <p:cNvSpPr txBox="1"/>
          <p:nvPr/>
        </p:nvSpPr>
        <p:spPr>
          <a:xfrm>
            <a:off x="502920" y="1627632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B6B82"/>
                </a:solidFill>
                <a:ea typeface="+mn-lt"/>
                <a:cs typeface="+mn-lt"/>
              </a:rPr>
              <a:t>People make the risky calls. Agents do the repeatable work.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CCA966-AB78-43DC-EF16-931510323B6B}"/>
              </a:ext>
            </a:extLst>
          </p:cNvPr>
          <p:cNvSpPr txBox="1"/>
          <p:nvPr/>
        </p:nvSpPr>
        <p:spPr>
          <a:xfrm>
            <a:off x="502815" y="6375918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Techiosoft</a:t>
            </a:r>
            <a:r>
              <a:rPr lang="en-US" sz="1600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 Systems Inc.</a:t>
            </a:r>
          </a:p>
        </p:txBody>
      </p:sp>
      <p:sp>
        <p:nvSpPr>
          <p:cNvPr id="8" name="Step 1"/>
          <p:cNvSpPr/>
          <p:nvPr/>
        </p:nvSpPr>
        <p:spPr>
          <a:xfrm>
            <a:off x="502920" y="2150000"/>
            <a:ext cx="2600000" cy="1000000"/>
          </a:xfrm>
          <a:prstGeom prst="roundRect">
            <a:avLst>
              <a:gd name="adj" fmla="val 8000"/>
            </a:avLst>
          </a:prstGeom>
          <a:solidFill>
            <a:srgbClr val="E7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Num 1"/>
          <p:cNvSpPr/>
          <p:nvPr/>
        </p:nvSpPr>
        <p:spPr>
          <a:xfrm>
            <a:off x="652920" y="2300000"/>
            <a:ext cx="300000" cy="300000"/>
          </a:xfrm>
          <a:prstGeom prst="ellipse">
            <a:avLst/>
          </a:prstGeom>
          <a:solidFill>
            <a:srgbClr val="0C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Step head 1"/>
          <p:cNvSpPr txBox="1"/>
          <p:nvPr/>
        </p:nvSpPr>
        <p:spPr>
          <a:xfrm>
            <a:off x="1052920" y="2280000"/>
            <a:ext cx="19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</a:rPr>
              <a:t>Tech Lead prompts</a:t>
            </a:r>
          </a:p>
        </p:txBody>
      </p:sp>
      <p:sp>
        <p:nvSpPr>
          <p:cNvPr id="11" name="Step body 1"/>
          <p:cNvSpPr txBox="1"/>
          <p:nvPr/>
        </p:nvSpPr>
        <p:spPr>
          <a:xfrm>
            <a:off x="652920" y="2670000"/>
            <a:ext cx="230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B6B82"/>
                </a:solidFill>
              </a:rPr>
              <a:t>TechioSoft Tech Lead sets the intent for each stage</a:t>
            </a:r>
          </a:p>
        </p:txBody>
      </p:sp>
      <p:sp>
        <p:nvSpPr>
          <p:cNvPr id="12" name="Arrow 1"/>
          <p:cNvSpPr/>
          <p:nvPr/>
        </p:nvSpPr>
        <p:spPr>
          <a:xfrm>
            <a:off x="3166486" y="2540000"/>
            <a:ext cx="140000" cy="220000"/>
          </a:xfrm>
          <a:prstGeom prst="chevron">
            <a:avLst/>
          </a:prstGeom>
          <a:solidFill>
            <a:srgbClr val="0C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ep 2"/>
          <p:cNvSpPr/>
          <p:nvPr/>
        </p:nvSpPr>
        <p:spPr>
          <a:xfrm>
            <a:off x="3370053" y="2150000"/>
            <a:ext cx="2600000" cy="1000000"/>
          </a:xfrm>
          <a:prstGeom prst="roundRect">
            <a:avLst>
              <a:gd name="adj" fmla="val 8000"/>
            </a:avLst>
          </a:prstGeom>
          <a:solidFill>
            <a:srgbClr val="E7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um 2"/>
          <p:cNvSpPr/>
          <p:nvPr/>
        </p:nvSpPr>
        <p:spPr>
          <a:xfrm>
            <a:off x="3520053" y="2300000"/>
            <a:ext cx="300000" cy="300000"/>
          </a:xfrm>
          <a:prstGeom prst="ellipse">
            <a:avLst/>
          </a:prstGeom>
          <a:solidFill>
            <a:srgbClr val="0C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Step head 2"/>
          <p:cNvSpPr txBox="1"/>
          <p:nvPr/>
        </p:nvSpPr>
        <p:spPr>
          <a:xfrm>
            <a:off x="3920053" y="2280000"/>
            <a:ext cx="19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</a:rPr>
              <a:t>Agents build</a:t>
            </a:r>
          </a:p>
        </p:txBody>
      </p:sp>
      <p:sp>
        <p:nvSpPr>
          <p:cNvPr id="16" name="Step body 2"/>
          <p:cNvSpPr txBox="1"/>
          <p:nvPr/>
        </p:nvSpPr>
        <p:spPr>
          <a:xfrm>
            <a:off x="3520053" y="2670000"/>
            <a:ext cx="230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B6B82"/>
                </a:solidFill>
              </a:rPr>
              <a:t>Branch, code, tests and the self-healing loop</a:t>
            </a:r>
          </a:p>
        </p:txBody>
      </p:sp>
      <p:sp>
        <p:nvSpPr>
          <p:cNvPr id="17" name="Arrow 2"/>
          <p:cNvSpPr/>
          <p:nvPr/>
        </p:nvSpPr>
        <p:spPr>
          <a:xfrm>
            <a:off x="6033620" y="2540000"/>
            <a:ext cx="140000" cy="220000"/>
          </a:xfrm>
          <a:prstGeom prst="chevron">
            <a:avLst/>
          </a:prstGeom>
          <a:solidFill>
            <a:srgbClr val="0C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tep 3"/>
          <p:cNvSpPr/>
          <p:nvPr/>
        </p:nvSpPr>
        <p:spPr>
          <a:xfrm>
            <a:off x="6237186" y="2150000"/>
            <a:ext cx="2600000" cy="10000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um 3"/>
          <p:cNvSpPr/>
          <p:nvPr/>
        </p:nvSpPr>
        <p:spPr>
          <a:xfrm>
            <a:off x="6387186" y="2300000"/>
            <a:ext cx="300000" cy="300000"/>
          </a:xfrm>
          <a:prstGeom prst="ellipse">
            <a:avLst/>
          </a:prstGeom>
          <a:solidFill>
            <a:srgbClr val="0C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Step head 3"/>
          <p:cNvSpPr txBox="1"/>
          <p:nvPr/>
        </p:nvSpPr>
        <p:spPr>
          <a:xfrm>
            <a:off x="6787186" y="2280000"/>
            <a:ext cx="19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Tech Lead approves</a:t>
            </a:r>
          </a:p>
        </p:txBody>
      </p:sp>
      <p:sp>
        <p:nvSpPr>
          <p:cNvPr id="21" name="Step body 3"/>
          <p:cNvSpPr txBox="1"/>
          <p:nvPr/>
        </p:nvSpPr>
        <p:spPr>
          <a:xfrm>
            <a:off x="6387186" y="2670000"/>
            <a:ext cx="230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TechioSoft Tech Lead reviews the PR and parity reports</a:t>
            </a:r>
          </a:p>
        </p:txBody>
      </p:sp>
      <p:sp>
        <p:nvSpPr>
          <p:cNvPr id="22" name="Arrow 3"/>
          <p:cNvSpPr/>
          <p:nvPr/>
        </p:nvSpPr>
        <p:spPr>
          <a:xfrm>
            <a:off x="8900753" y="2540000"/>
            <a:ext cx="140000" cy="220000"/>
          </a:xfrm>
          <a:prstGeom prst="chevron">
            <a:avLst/>
          </a:prstGeom>
          <a:solidFill>
            <a:srgbClr val="0C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tep 4"/>
          <p:cNvSpPr/>
          <p:nvPr/>
        </p:nvSpPr>
        <p:spPr>
          <a:xfrm>
            <a:off x="9104320" y="2150000"/>
            <a:ext cx="2600000" cy="1000000"/>
          </a:xfrm>
          <a:prstGeom prst="roundRect">
            <a:avLst>
              <a:gd name="adj" fmla="val 8000"/>
            </a:avLst>
          </a:prstGeom>
          <a:solidFill>
            <a:srgbClr val="E7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Num 4"/>
          <p:cNvSpPr/>
          <p:nvPr/>
        </p:nvSpPr>
        <p:spPr>
          <a:xfrm>
            <a:off x="9254320" y="2300000"/>
            <a:ext cx="300000" cy="300000"/>
          </a:xfrm>
          <a:prstGeom prst="ellipse">
            <a:avLst/>
          </a:prstGeom>
          <a:solidFill>
            <a:srgbClr val="0C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Step head 4"/>
          <p:cNvSpPr txBox="1"/>
          <p:nvPr/>
        </p:nvSpPr>
        <p:spPr>
          <a:xfrm>
            <a:off x="9654320" y="2280000"/>
            <a:ext cx="19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</a:rPr>
              <a:t>MASC reviews</a:t>
            </a:r>
          </a:p>
        </p:txBody>
      </p:sp>
      <p:sp>
        <p:nvSpPr>
          <p:cNvPr id="26" name="Step body 4"/>
          <p:cNvSpPr txBox="1"/>
          <p:nvPr/>
        </p:nvSpPr>
        <p:spPr>
          <a:xfrm>
            <a:off x="9254320" y="2670000"/>
            <a:ext cx="230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B6B82"/>
                </a:solidFill>
              </a:rPr>
              <a:t>MASC reviews the PR and demo; confirms parity before Phase 4</a:t>
            </a:r>
          </a:p>
        </p:txBody>
      </p:sp>
      <p:sp>
        <p:nvSpPr>
          <p:cNvPr id="27" name="Card 1"/>
          <p:cNvSpPr/>
          <p:nvPr/>
        </p:nvSpPr>
        <p:spPr>
          <a:xfrm>
            <a:off x="502920" y="3330000"/>
            <a:ext cx="3533800" cy="2480000"/>
          </a:xfrm>
          <a:prstGeom prst="roundRect">
            <a:avLst>
              <a:gd name="adj" fmla="val 3000"/>
            </a:avLst>
          </a:prstGeom>
          <a:solidFill>
            <a:srgbClr val="F3F7FD"/>
          </a:solidFill>
          <a:ln w="12700">
            <a:solidFill>
              <a:srgbClr val="CBD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ard head 1"/>
          <p:cNvSpPr txBox="1"/>
          <p:nvPr/>
        </p:nvSpPr>
        <p:spPr>
          <a:xfrm>
            <a:off x="702920" y="3470000"/>
            <a:ext cx="31338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</a:rPr>
              <a:t>Human gates: Tech Lead approves</a:t>
            </a:r>
          </a:p>
        </p:txBody>
      </p:sp>
      <p:sp>
        <p:nvSpPr>
          <p:cNvPr id="29" name="Card list 1"/>
          <p:cNvSpPr txBox="1"/>
          <p:nvPr/>
        </p:nvSpPr>
        <p:spPr>
          <a:xfrm>
            <a:off x="702920" y="3910000"/>
            <a:ext cx="313380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spcAft>
                <a:spcPts val="600"/>
              </a:spcAft>
              <a:buChar char="•"/>
            </a:pPr>
            <a:r>
              <a:rPr sz="1200" b="0">
                <a:solidFill>
                  <a:srgbClr val="0A1628"/>
                </a:solidFill>
              </a:rPr>
              <a:t>Data-parity sign-off against Azure SQL</a:t>
            </a:r>
          </a:p>
          <a:p>
            <a:pPr marL="171450" indent="-171450">
              <a:spcAft>
                <a:spcPts val="600"/>
              </a:spcAft>
              <a:buChar char="•"/>
            </a:pPr>
            <a:r>
              <a:rPr sz="1200" b="0">
                <a:solidFill>
                  <a:srgbClr val="0A1628"/>
                </a:solidFill>
              </a:rPr>
              <a:t>Authentication and </a:t>
            </a:r>
            <a:r>
              <a:rPr lang="en-US" sz="1200">
                <a:solidFill>
                  <a:srgbClr val="0A1628"/>
                </a:solidFill>
              </a:rPr>
              <a:t>live token</a:t>
            </a:r>
            <a:r>
              <a:rPr sz="1200" b="0">
                <a:solidFill>
                  <a:srgbClr val="0A1628"/>
                </a:solidFill>
              </a:rPr>
              <a:t> validation</a:t>
            </a:r>
          </a:p>
          <a:p>
            <a:pPr marL="171450" indent="-171450">
              <a:spcAft>
                <a:spcPts val="600"/>
              </a:spcAft>
              <a:buChar char="•"/>
            </a:pPr>
            <a:r>
              <a:rPr sz="1200" b="0">
                <a:solidFill>
                  <a:srgbClr val="0A1628"/>
                </a:solidFill>
              </a:rPr>
              <a:t>Live-Azure deployment steps</a:t>
            </a:r>
            <a:endParaRPr sz="1200" b="0">
              <a:solidFill>
                <a:srgbClr val="0A1628"/>
              </a:solidFill>
              <a:ea typeface="Calibri"/>
              <a:cs typeface="Calibri"/>
            </a:endParaRPr>
          </a:p>
          <a:p>
            <a:pPr marL="171450" indent="-171450">
              <a:spcAft>
                <a:spcPts val="600"/>
              </a:spcAft>
              <a:buChar char="•"/>
            </a:pPr>
            <a:r>
              <a:rPr sz="1200" b="0">
                <a:solidFill>
                  <a:srgbClr val="0A1628"/>
                </a:solidFill>
              </a:rPr>
              <a:t>Any database or security change: agents cannot merge these alone</a:t>
            </a:r>
            <a:endParaRPr sz="1200" b="0">
              <a:solidFill>
                <a:srgbClr val="0A1628"/>
              </a:solidFill>
              <a:ea typeface="Calibri"/>
              <a:cs typeface="Calibri"/>
            </a:endParaRPr>
          </a:p>
        </p:txBody>
      </p:sp>
      <p:sp>
        <p:nvSpPr>
          <p:cNvPr id="30" name="Card 2"/>
          <p:cNvSpPr/>
          <p:nvPr/>
        </p:nvSpPr>
        <p:spPr>
          <a:xfrm>
            <a:off x="4336720" y="3330000"/>
            <a:ext cx="3533800" cy="2480000"/>
          </a:xfrm>
          <a:prstGeom prst="roundRect">
            <a:avLst>
              <a:gd name="adj" fmla="val 3000"/>
            </a:avLst>
          </a:prstGeom>
          <a:solidFill>
            <a:srgbClr val="F3F7FD"/>
          </a:solidFill>
          <a:ln w="12700">
            <a:solidFill>
              <a:srgbClr val="CBD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ard head 2"/>
          <p:cNvSpPr txBox="1"/>
          <p:nvPr/>
        </p:nvSpPr>
        <p:spPr>
          <a:xfrm>
            <a:off x="4536720" y="3470000"/>
            <a:ext cx="31338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</a:rPr>
              <a:t>Good practices we follow</a:t>
            </a:r>
          </a:p>
        </p:txBody>
      </p:sp>
      <p:sp>
        <p:nvSpPr>
          <p:cNvPr id="32" name="Card list 2"/>
          <p:cNvSpPr txBox="1"/>
          <p:nvPr/>
        </p:nvSpPr>
        <p:spPr>
          <a:xfrm>
            <a:off x="4536720" y="3910000"/>
            <a:ext cx="3133800" cy="18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spcAft>
                <a:spcPts val="600"/>
              </a:spcAft>
              <a:buChar char="•"/>
            </a:pPr>
            <a:r>
              <a:rPr sz="1200" b="0">
                <a:solidFill>
                  <a:srgbClr val="0A1628"/>
                </a:solidFill>
              </a:rPr>
              <a:t>One branch and one PR per stage. Nothing merges to main until UAT passes.</a:t>
            </a:r>
          </a:p>
          <a:p>
            <a:pPr marL="171450" indent="-171450">
              <a:spcAft>
                <a:spcPts val="600"/>
              </a:spcAft>
              <a:buChar char="•"/>
            </a:pPr>
            <a:r>
              <a:rPr sz="1200" b="0">
                <a:solidFill>
                  <a:srgbClr val="0A1628"/>
                </a:solidFill>
              </a:rPr>
              <a:t>Golden master captured on .NET 4.8 before any code changes</a:t>
            </a:r>
          </a:p>
          <a:p>
            <a:pPr marL="171450" indent="-171450">
              <a:spcAft>
                <a:spcPts val="600"/>
              </a:spcAft>
              <a:buChar char="•"/>
            </a:pPr>
            <a:r>
              <a:rPr sz="1200" b="0">
                <a:solidFill>
                  <a:srgbClr val="0A1628"/>
                </a:solidFill>
              </a:rPr>
              <a:t>We work inside MASC's environment: your VM, Azure DevOps repos and Dev database</a:t>
            </a:r>
          </a:p>
          <a:p>
            <a:pPr marL="171450" indent="-171450">
              <a:spcAft>
                <a:spcPts val="600"/>
              </a:spcAft>
              <a:buChar char="•"/>
            </a:pPr>
            <a:r>
              <a:rPr sz="1200" b="0">
                <a:solidFill>
                  <a:srgbClr val="0A1628"/>
                </a:solidFill>
              </a:rPr>
              <a:t>MASC confirms data and auth parity before Phase 4 starts</a:t>
            </a:r>
          </a:p>
        </p:txBody>
      </p:sp>
      <p:sp>
        <p:nvSpPr>
          <p:cNvPr id="33" name="Card 3"/>
          <p:cNvSpPr/>
          <p:nvPr/>
        </p:nvSpPr>
        <p:spPr>
          <a:xfrm>
            <a:off x="8170520" y="3330000"/>
            <a:ext cx="3533800" cy="2480000"/>
          </a:xfrm>
          <a:prstGeom prst="roundRect">
            <a:avLst>
              <a:gd name="adj" fmla="val 3000"/>
            </a:avLst>
          </a:prstGeom>
          <a:solidFill>
            <a:srgbClr val="F3F7FD"/>
          </a:solidFill>
          <a:ln w="12700">
            <a:solidFill>
              <a:srgbClr val="CBD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Card head 3"/>
          <p:cNvSpPr txBox="1"/>
          <p:nvPr/>
        </p:nvSpPr>
        <p:spPr>
          <a:xfrm>
            <a:off x="8370520" y="3470000"/>
            <a:ext cx="31338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</a:rPr>
              <a:t>TechioSoft team doing the work</a:t>
            </a:r>
          </a:p>
        </p:txBody>
      </p:sp>
      <p:sp>
        <p:nvSpPr>
          <p:cNvPr id="35" name="Card list 3"/>
          <p:cNvSpPr txBox="1"/>
          <p:nvPr/>
        </p:nvSpPr>
        <p:spPr>
          <a:xfrm>
            <a:off x="8370520" y="3910000"/>
            <a:ext cx="3133800" cy="18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spcAft>
                <a:spcPts val="600"/>
              </a:spcAft>
              <a:buChar char="•"/>
            </a:pPr>
            <a:r>
              <a:rPr sz="1200" b="1">
                <a:solidFill>
                  <a:srgbClr val="0A1628"/>
                </a:solidFill>
              </a:rPr>
              <a:t>Sparsh Dutta</a:t>
            </a:r>
            <a:r>
              <a:rPr sz="1200" b="0">
                <a:solidFill>
                  <a:srgbClr val="5B6B82"/>
                </a:solidFill>
              </a:rPr>
              <a:t>, Tech Lead. Full-stack development, testing and QA</a:t>
            </a:r>
          </a:p>
          <a:p>
            <a:pPr marL="171450" indent="-171450">
              <a:spcAft>
                <a:spcPts val="600"/>
              </a:spcAft>
              <a:buChar char="•"/>
            </a:pPr>
            <a:r>
              <a:rPr sz="1200" b="1">
                <a:solidFill>
                  <a:srgbClr val="0A1628"/>
                </a:solidFill>
              </a:rPr>
              <a:t>Dinakara Kaushik Dhulipala</a:t>
            </a:r>
            <a:r>
              <a:rPr sz="1200" b="0">
                <a:solidFill>
                  <a:srgbClr val="5B6B82"/>
                </a:solidFill>
              </a:rPr>
              <a:t>, DevOps</a:t>
            </a:r>
          </a:p>
          <a:p>
            <a:pPr marL="171450" indent="-171450">
              <a:spcAft>
                <a:spcPts val="600"/>
              </a:spcAft>
              <a:buChar char="•"/>
            </a:pPr>
            <a:r>
              <a:rPr sz="1200" b="1">
                <a:solidFill>
                  <a:srgbClr val="0A1628"/>
                </a:solidFill>
              </a:rPr>
              <a:t>Vishwa Isola</a:t>
            </a:r>
            <a:r>
              <a:rPr sz="1200" b="0">
                <a:solidFill>
                  <a:srgbClr val="5B6B82"/>
                </a:solidFill>
              </a:rPr>
              <a:t>, PMO and delivery oversight</a:t>
            </a:r>
          </a:p>
        </p:txBody>
      </p:sp>
      <p:sp>
        <p:nvSpPr>
          <p:cNvPr id="36" name="Cadence strip"/>
          <p:cNvSpPr txBox="1"/>
          <p:nvPr/>
        </p:nvSpPr>
        <p:spPr>
          <a:xfrm>
            <a:off x="502920" y="6011514"/>
            <a:ext cx="112014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50" b="1">
                <a:solidFill>
                  <a:srgbClr val="0A1628"/>
                </a:solidFill>
              </a:rPr>
              <a:t>Cadence with MASC: </a:t>
            </a:r>
            <a:r>
              <a:rPr sz="1150" b="0">
                <a:solidFill>
                  <a:srgbClr val="5B6B82"/>
                </a:solidFill>
              </a:rPr>
              <a:t>1-hour demo</a:t>
            </a:r>
            <a:r>
              <a:rPr lang="en-US" sz="1150">
                <a:solidFill>
                  <a:srgbClr val="5B6B82"/>
                </a:solidFill>
              </a:rPr>
              <a:t> as Phases proceed</a:t>
            </a:r>
            <a:r>
              <a:rPr sz="1150" b="0">
                <a:solidFill>
                  <a:srgbClr val="5B6B82"/>
                </a:solidFill>
              </a:rPr>
              <a:t>, weekly 30-minute technical sync, weekly status report.  </a:t>
            </a:r>
            <a:r>
              <a:rPr sz="1150" b="1">
                <a:solidFill>
                  <a:srgbClr val="0A1628"/>
                </a:solidFill>
              </a:rPr>
              <a:t>Escalation: </a:t>
            </a:r>
            <a:r>
              <a:rPr sz="1150" b="0">
                <a:solidFill>
                  <a:srgbClr val="5B6B82"/>
                </a:solidFill>
              </a:rPr>
              <a:t>Vishwa Isola → Munish </a:t>
            </a:r>
            <a:r>
              <a:rPr sz="1150" b="0" err="1">
                <a:solidFill>
                  <a:srgbClr val="5B6B82"/>
                </a:solidFill>
              </a:rPr>
              <a:t>Saldhi</a:t>
            </a:r>
            <a:r>
              <a:rPr sz="1150" b="0">
                <a:solidFill>
                  <a:srgbClr val="5B6B82"/>
                </a:solidFill>
              </a:rPr>
              <a:t> → Project Sponsors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FBCD6-C8CD-31AC-FC3A-70DCCB4E7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D10E88-8487-A3B5-4958-6BA219670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53" y="239889"/>
            <a:ext cx="3013428" cy="57573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9DF3FCC1-CCDA-2A3B-C7C1-C0AC49C9A96A}"/>
              </a:ext>
            </a:extLst>
          </p:cNvPr>
          <p:cNvSpPr txBox="1"/>
          <p:nvPr/>
        </p:nvSpPr>
        <p:spPr>
          <a:xfrm>
            <a:off x="502920" y="105156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0A1628"/>
                </a:solidFill>
                <a:ea typeface="+mn-lt"/>
                <a:cs typeface="+mn-lt"/>
              </a:rPr>
              <a:t>Stage Gates &amp; Governance</a:t>
            </a:r>
            <a:endParaRPr lang="en-US" sz="3200" b="1">
              <a:ea typeface="Calibri"/>
              <a:cs typeface="Calibri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0A157A1-7977-34CA-1A2C-4BF7724B3EE3}"/>
              </a:ext>
            </a:extLst>
          </p:cNvPr>
          <p:cNvSpPr txBox="1"/>
          <p:nvPr/>
        </p:nvSpPr>
        <p:spPr>
          <a:xfrm>
            <a:off x="502920" y="1641079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B6B82"/>
                </a:solidFill>
                <a:ea typeface="+mn-lt"/>
                <a:cs typeface="+mn-lt"/>
              </a:rPr>
              <a:t>Nothing risky merges without passing a gate</a:t>
            </a:r>
            <a:endParaRPr lang="en-US"/>
          </a:p>
        </p:txBody>
      </p:sp>
      <p:sp>
        <p:nvSpPr>
          <p:cNvPr id="11" name="Shape 17">
            <a:extLst>
              <a:ext uri="{FF2B5EF4-FFF2-40B4-BE49-F238E27FC236}">
                <a16:creationId xmlns:a16="http://schemas.microsoft.com/office/drawing/2014/main" id="{CE5CA4FE-BD78-6A41-AD11-AC8AA2B42171}"/>
              </a:ext>
            </a:extLst>
          </p:cNvPr>
          <p:cNvSpPr/>
          <p:nvPr/>
        </p:nvSpPr>
        <p:spPr>
          <a:xfrm>
            <a:off x="6436360" y="2758978"/>
            <a:ext cx="4251960" cy="3050513"/>
          </a:xfrm>
          <a:prstGeom prst="roundRect">
            <a:avLst>
              <a:gd name="adj" fmla="val 2162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B95BB4E1-F331-F57E-E066-CA47AC4C57FC}"/>
              </a:ext>
            </a:extLst>
          </p:cNvPr>
          <p:cNvSpPr txBox="1"/>
          <p:nvPr/>
        </p:nvSpPr>
        <p:spPr>
          <a:xfrm>
            <a:off x="6834984" y="3062099"/>
            <a:ext cx="3454400" cy="2174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300" b="1">
                <a:solidFill>
                  <a:srgbClr val="FFFFFF"/>
                </a:solidFill>
                <a:ea typeface="+mn-lt"/>
                <a:cs typeface="+mn-lt"/>
              </a:rPr>
              <a:t>The agent can't merge a database or security change on its own — those are gated to the TechioSoft Tech Lead. Governance is built into the workflow.</a:t>
            </a:r>
            <a:endParaRPr lang="en-US" sz="2300" b="1">
              <a:ea typeface="Calibri"/>
              <a:cs typeface="Calibri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1DB361-0155-507F-7EE8-5D538265AC23}"/>
              </a:ext>
            </a:extLst>
          </p:cNvPr>
          <p:cNvSpPr txBox="1"/>
          <p:nvPr/>
        </p:nvSpPr>
        <p:spPr>
          <a:xfrm>
            <a:off x="502920" y="22128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A5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STRUCTURED</a:t>
            </a:r>
            <a:endParaRPr lang="en-US" sz="110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CEE78516-7E87-E7F5-4E94-E888E4C743AA}"/>
              </a:ext>
            </a:extLst>
          </p:cNvPr>
          <p:cNvSpPr/>
          <p:nvPr/>
        </p:nvSpPr>
        <p:spPr>
          <a:xfrm>
            <a:off x="502920" y="2660904"/>
            <a:ext cx="566928" cy="566928"/>
          </a:xfrm>
          <a:prstGeom prst="ellipse">
            <a:avLst/>
          </a:prstGeom>
          <a:solidFill>
            <a:srgbClr val="E7F0FE"/>
          </a:solidFill>
          <a:ln w="12700">
            <a:solidFill>
              <a:srgbClr val="E7F0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B2B69E1A-6259-48AB-0E80-E7F4DA6D87DD}"/>
              </a:ext>
            </a:extLst>
          </p:cNvPr>
          <p:cNvSpPr txBox="1"/>
          <p:nvPr/>
        </p:nvSpPr>
        <p:spPr>
          <a:xfrm>
            <a:off x="1325880" y="26060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 b="1">
                <a:solidFill>
                  <a:srgbClr val="0A1628"/>
                </a:solidFill>
                <a:ea typeface="+mn-lt"/>
                <a:cs typeface="+mn-lt"/>
              </a:rPr>
              <a:t>Phase gates (L0–L5)</a:t>
            </a: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297471FF-3FCF-732C-CBC4-D15AD2FB24C0}"/>
              </a:ext>
            </a:extLst>
          </p:cNvPr>
          <p:cNvSpPr txBox="1"/>
          <p:nvPr/>
        </p:nvSpPr>
        <p:spPr>
          <a:xfrm>
            <a:off x="1325880" y="291693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foundation must be green before any feature work</a:t>
            </a:r>
            <a:endParaRPr lang="en-US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70954265-07DC-8B47-3E00-025E734907BF}"/>
              </a:ext>
            </a:extLst>
          </p:cNvPr>
          <p:cNvSpPr/>
          <p:nvPr/>
        </p:nvSpPr>
        <p:spPr>
          <a:xfrm>
            <a:off x="502920" y="3730752"/>
            <a:ext cx="566928" cy="566928"/>
          </a:xfrm>
          <a:prstGeom prst="ellipse">
            <a:avLst/>
          </a:prstGeom>
          <a:solidFill>
            <a:srgbClr val="E7F0FE"/>
          </a:solidFill>
          <a:ln w="12700">
            <a:solidFill>
              <a:srgbClr val="E7F0F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CC825CF7-130C-C430-C00F-A984EDCCC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91" y="3883823"/>
            <a:ext cx="260787" cy="260787"/>
          </a:xfrm>
          <a:prstGeom prst="rect">
            <a:avLst/>
          </a:prstGeom>
        </p:spPr>
      </p:pic>
      <p:sp>
        <p:nvSpPr>
          <p:cNvPr id="22" name="Text 8">
            <a:extLst>
              <a:ext uri="{FF2B5EF4-FFF2-40B4-BE49-F238E27FC236}">
                <a16:creationId xmlns:a16="http://schemas.microsoft.com/office/drawing/2014/main" id="{F2872665-BC4A-931C-1767-C61CF5FB534A}"/>
              </a:ext>
            </a:extLst>
          </p:cNvPr>
          <p:cNvSpPr txBox="1"/>
          <p:nvPr/>
        </p:nvSpPr>
        <p:spPr>
          <a:xfrm>
            <a:off x="1325880" y="36758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 b="1">
                <a:solidFill>
                  <a:srgbClr val="0A1628"/>
                </a:solidFill>
                <a:ea typeface="+mn-lt"/>
                <a:cs typeface="+mn-lt"/>
              </a:rPr>
              <a:t>Slicing rules (R1–R10)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F6B4EAA8-CC98-0C52-8651-25B4EA588FB4}"/>
              </a:ext>
            </a:extLst>
          </p:cNvPr>
          <p:cNvSpPr txBox="1"/>
          <p:nvPr/>
        </p:nvSpPr>
        <p:spPr>
          <a:xfrm>
            <a:off x="1325880" y="398678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anchor-first, size caps, frozen data models — prevents "big-bang" risk with small, reviewable changes — full audit trail</a:t>
            </a:r>
            <a:endParaRPr lang="en-US" err="1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50F326BF-3104-890A-58D6-F9C472827D55}"/>
              </a:ext>
            </a:extLst>
          </p:cNvPr>
          <p:cNvSpPr/>
          <p:nvPr/>
        </p:nvSpPr>
        <p:spPr>
          <a:xfrm>
            <a:off x="502920" y="4800600"/>
            <a:ext cx="566928" cy="566928"/>
          </a:xfrm>
          <a:prstGeom prst="ellipse">
            <a:avLst/>
          </a:prstGeom>
          <a:solidFill>
            <a:srgbClr val="E7F0FE"/>
          </a:solidFill>
          <a:ln w="12700">
            <a:solidFill>
              <a:srgbClr val="E7F0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924902DF-5C2E-AAE3-5175-26A9B2E3A6E2}"/>
              </a:ext>
            </a:extLst>
          </p:cNvPr>
          <p:cNvSpPr txBox="1"/>
          <p:nvPr/>
        </p:nvSpPr>
        <p:spPr>
          <a:xfrm>
            <a:off x="1325880" y="47457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 b="1">
                <a:solidFill>
                  <a:srgbClr val="0A1628"/>
                </a:solidFill>
                <a:ea typeface="+mn-lt"/>
                <a:cs typeface="+mn-lt"/>
              </a:rPr>
              <a:t>Human gates (L3)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5884CC51-8C87-9EBF-835E-3D7C35896B6C}"/>
              </a:ext>
            </a:extLst>
          </p:cNvPr>
          <p:cNvSpPr txBox="1"/>
          <p:nvPr/>
        </p:nvSpPr>
        <p:spPr>
          <a:xfrm>
            <a:off x="1325880" y="505663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data parity, authentication, and live-Azure steps are agent-scaffolded but validated by the TechioSoft Tech Lead</a:t>
            </a:r>
            <a:endParaRPr lang="en-US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6BE15BBB-D7C4-C718-D687-506D32F89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91" y="2813975"/>
            <a:ext cx="260787" cy="260787"/>
          </a:xfrm>
          <a:prstGeom prst="rect">
            <a:avLst/>
          </a:prstGeom>
        </p:spPr>
      </p:pic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2671A3C5-4BD2-D036-7F23-4CEBEE76AB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991" y="4953671"/>
            <a:ext cx="260787" cy="2607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BA12CC-EC12-9DE5-3EA2-0420FF129B30}"/>
              </a:ext>
            </a:extLst>
          </p:cNvPr>
          <p:cNvSpPr txBox="1"/>
          <p:nvPr/>
        </p:nvSpPr>
        <p:spPr>
          <a:xfrm>
            <a:off x="502815" y="6375918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Techiosoft</a:t>
            </a:r>
            <a:r>
              <a:rPr lang="en-US" sz="1600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 Systems Inc.</a:t>
            </a:r>
          </a:p>
        </p:txBody>
      </p:sp>
    </p:spTree>
    <p:extLst>
      <p:ext uri="{BB962C8B-B14F-4D97-AF65-F5344CB8AC3E}">
        <p14:creationId xmlns:p14="http://schemas.microsoft.com/office/powerpoint/2010/main" val="170098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86831-58F9-F68C-8078-AD39C9F78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F83615-8645-0479-39EF-2BEDDAE2C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53" y="239889"/>
            <a:ext cx="3013428" cy="57573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CAF47FBB-044C-C506-186A-8FF4D5D237D2}"/>
              </a:ext>
            </a:extLst>
          </p:cNvPr>
          <p:cNvSpPr txBox="1"/>
          <p:nvPr/>
        </p:nvSpPr>
        <p:spPr>
          <a:xfrm>
            <a:off x="502920" y="105156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0A1628"/>
                </a:solidFill>
                <a:ea typeface="+mn-lt"/>
                <a:cs typeface="+mn-lt"/>
              </a:rPr>
              <a:t>Phase Gates &amp; Risks</a:t>
            </a:r>
            <a:endParaRPr lang="en-US" sz="3200" b="1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43F16-C562-8BAA-5F79-5C4B0A07C56F}"/>
              </a:ext>
            </a:extLst>
          </p:cNvPr>
          <p:cNvSpPr txBox="1"/>
          <p:nvPr/>
        </p:nvSpPr>
        <p:spPr>
          <a:xfrm>
            <a:off x="502815" y="6375918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Techiosoft</a:t>
            </a:r>
            <a:r>
              <a:rPr lang="en-US" sz="1600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 Systems Inc.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55602862-C737-DF78-8D4D-05A127B1EBA8}"/>
              </a:ext>
            </a:extLst>
          </p:cNvPr>
          <p:cNvSpPr txBox="1"/>
          <p:nvPr/>
        </p:nvSpPr>
        <p:spPr>
          <a:xfrm>
            <a:off x="502920" y="1641079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B6B82"/>
                </a:solidFill>
                <a:ea typeface="+mn-lt"/>
                <a:cs typeface="+mn-lt"/>
              </a:rPr>
              <a:t>14 slices pass through five gates. Each known risk has a control and a gate that catches it.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0" name="Gate L0"/>
          <p:cNvSpPr/>
          <p:nvPr/>
        </p:nvSpPr>
        <p:spPr>
          <a:xfrm>
            <a:off x="502920" y="2150000"/>
            <a:ext cx="2120000" cy="1000000"/>
          </a:xfrm>
          <a:prstGeom prst="roundRect">
            <a:avLst>
              <a:gd name="adj" fmla="val 8000"/>
            </a:avLst>
          </a:prstGeom>
          <a:solidFill>
            <a:srgbClr val="E7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Gate head L0"/>
          <p:cNvSpPr txBox="1"/>
          <p:nvPr/>
        </p:nvSpPr>
        <p:spPr>
          <a:xfrm>
            <a:off x="622920" y="2240000"/>
            <a:ext cx="188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C78F0"/>
                </a:solidFill>
              </a:rPr>
              <a:t>L0  </a:t>
            </a:r>
            <a:r>
              <a:rPr sz="1300" b="1">
                <a:solidFill>
                  <a:srgbClr val="0A1628"/>
                </a:solidFill>
              </a:rPr>
              <a:t>Foundation</a:t>
            </a:r>
          </a:p>
        </p:txBody>
      </p:sp>
      <p:sp>
        <p:nvSpPr>
          <p:cNvPr id="12" name="Gate body L0"/>
          <p:cNvSpPr txBox="1"/>
          <p:nvPr/>
        </p:nvSpPr>
        <p:spPr>
          <a:xfrm>
            <a:off x="622920" y="2530000"/>
            <a:ext cx="188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</a:rPr>
              <a:t>9 slices: shared libraries, settings, auth and MVC base</a:t>
            </a:r>
          </a:p>
        </p:txBody>
      </p:sp>
      <p:sp>
        <p:nvSpPr>
          <p:cNvPr id="13" name="Gate arrow 0"/>
          <p:cNvSpPr/>
          <p:nvPr/>
        </p:nvSpPr>
        <p:spPr>
          <a:xfrm>
            <a:off x="2643095" y="2560000"/>
            <a:ext cx="110000" cy="180000"/>
          </a:xfrm>
          <a:prstGeom prst="chevron">
            <a:avLst/>
          </a:prstGeom>
          <a:solidFill>
            <a:srgbClr val="0C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Gate L2"/>
          <p:cNvSpPr/>
          <p:nvPr/>
        </p:nvSpPr>
        <p:spPr>
          <a:xfrm>
            <a:off x="2773270" y="2150000"/>
            <a:ext cx="2120000" cy="1000000"/>
          </a:xfrm>
          <a:prstGeom prst="roundRect">
            <a:avLst>
              <a:gd name="adj" fmla="val 8000"/>
            </a:avLst>
          </a:prstGeom>
          <a:solidFill>
            <a:srgbClr val="E7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Gate head L2"/>
          <p:cNvSpPr txBox="1"/>
          <p:nvPr/>
        </p:nvSpPr>
        <p:spPr>
          <a:xfrm>
            <a:off x="2893270" y="2240000"/>
            <a:ext cx="188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C78F0"/>
                </a:solidFill>
              </a:rPr>
              <a:t>L2  </a:t>
            </a:r>
            <a:r>
              <a:rPr sz="1300" b="1">
                <a:solidFill>
                  <a:srgbClr val="0A1628"/>
                </a:solidFill>
              </a:rPr>
              <a:t>Host</a:t>
            </a:r>
          </a:p>
        </p:txBody>
      </p:sp>
      <p:sp>
        <p:nvSpPr>
          <p:cNvPr id="16" name="Gate body L2"/>
          <p:cNvSpPr txBox="1"/>
          <p:nvPr/>
        </p:nvSpPr>
        <p:spPr>
          <a:xfrm>
            <a:off x="2893270" y="2530000"/>
            <a:ext cx="188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</a:rPr>
              <a:t>1 slice: API host, 20 controllers, DI</a:t>
            </a:r>
          </a:p>
        </p:txBody>
      </p:sp>
      <p:sp>
        <p:nvSpPr>
          <p:cNvPr id="17" name="Gate arrow 1"/>
          <p:cNvSpPr/>
          <p:nvPr/>
        </p:nvSpPr>
        <p:spPr>
          <a:xfrm>
            <a:off x="4913445" y="2560000"/>
            <a:ext cx="110000" cy="180000"/>
          </a:xfrm>
          <a:prstGeom prst="chevron">
            <a:avLst/>
          </a:prstGeom>
          <a:solidFill>
            <a:srgbClr val="0C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Gate L3"/>
          <p:cNvSpPr/>
          <p:nvPr/>
        </p:nvSpPr>
        <p:spPr>
          <a:xfrm>
            <a:off x="5043620" y="2150000"/>
            <a:ext cx="2120000" cy="10000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Gate head L3"/>
          <p:cNvSpPr txBox="1"/>
          <p:nvPr/>
        </p:nvSpPr>
        <p:spPr>
          <a:xfrm>
            <a:off x="5163620" y="2240000"/>
            <a:ext cx="188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7FB8FF"/>
                </a:solidFill>
              </a:rPr>
              <a:t>L3  </a:t>
            </a:r>
            <a:r>
              <a:rPr sz="1300" b="1">
                <a:solidFill>
                  <a:srgbClr val="FFFFFF"/>
                </a:solidFill>
              </a:rPr>
              <a:t>Data &amp; identity</a:t>
            </a:r>
          </a:p>
        </p:txBody>
      </p:sp>
      <p:sp>
        <p:nvSpPr>
          <p:cNvPr id="20" name="Gate body L3"/>
          <p:cNvSpPr txBox="1"/>
          <p:nvPr/>
        </p:nvSpPr>
        <p:spPr>
          <a:xfrm>
            <a:off x="5163620" y="2530000"/>
            <a:ext cx="188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3 slices: EF Core data access, MSAL token validation</a:t>
            </a:r>
          </a:p>
        </p:txBody>
      </p:sp>
      <p:sp>
        <p:nvSpPr>
          <p:cNvPr id="21" name="Gate arrow 2"/>
          <p:cNvSpPr/>
          <p:nvPr/>
        </p:nvSpPr>
        <p:spPr>
          <a:xfrm>
            <a:off x="7183795" y="2560000"/>
            <a:ext cx="110000" cy="180000"/>
          </a:xfrm>
          <a:prstGeom prst="chevron">
            <a:avLst/>
          </a:prstGeom>
          <a:solidFill>
            <a:srgbClr val="0C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Gate L4"/>
          <p:cNvSpPr/>
          <p:nvPr/>
        </p:nvSpPr>
        <p:spPr>
          <a:xfrm>
            <a:off x="7313970" y="2150000"/>
            <a:ext cx="2120000" cy="1000000"/>
          </a:xfrm>
          <a:prstGeom prst="roundRect">
            <a:avLst>
              <a:gd name="adj" fmla="val 8000"/>
            </a:avLst>
          </a:prstGeom>
          <a:solidFill>
            <a:srgbClr val="E7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Gate head L4"/>
          <p:cNvSpPr txBox="1"/>
          <p:nvPr/>
        </p:nvSpPr>
        <p:spPr>
          <a:xfrm>
            <a:off x="7433970" y="2240000"/>
            <a:ext cx="188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C78F0"/>
                </a:solidFill>
              </a:rPr>
              <a:t>L4  </a:t>
            </a:r>
            <a:r>
              <a:rPr sz="1300" b="1">
                <a:solidFill>
                  <a:srgbClr val="0A1628"/>
                </a:solidFill>
              </a:rPr>
              <a:t>Observability</a:t>
            </a:r>
          </a:p>
        </p:txBody>
      </p:sp>
      <p:sp>
        <p:nvSpPr>
          <p:cNvPr id="24" name="Gate body L4"/>
          <p:cNvSpPr txBox="1"/>
          <p:nvPr/>
        </p:nvSpPr>
        <p:spPr>
          <a:xfrm>
            <a:off x="7433970" y="2530000"/>
            <a:ext cx="188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</a:rPr>
              <a:t>1 slice: observability and Linux container</a:t>
            </a:r>
          </a:p>
        </p:txBody>
      </p:sp>
      <p:sp>
        <p:nvSpPr>
          <p:cNvPr id="25" name="Gate arrow 3"/>
          <p:cNvSpPr/>
          <p:nvPr/>
        </p:nvSpPr>
        <p:spPr>
          <a:xfrm>
            <a:off x="9454145" y="2560000"/>
            <a:ext cx="110000" cy="180000"/>
          </a:xfrm>
          <a:prstGeom prst="chevron">
            <a:avLst/>
          </a:prstGeom>
          <a:solidFill>
            <a:srgbClr val="0C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Gate L5"/>
          <p:cNvSpPr/>
          <p:nvPr/>
        </p:nvSpPr>
        <p:spPr>
          <a:xfrm>
            <a:off x="9584320" y="2150000"/>
            <a:ext cx="2120000" cy="1000000"/>
          </a:xfrm>
          <a:prstGeom prst="roundRect">
            <a:avLst>
              <a:gd name="adj" fmla="val 8000"/>
            </a:avLst>
          </a:prstGeom>
          <a:solidFill>
            <a:srgbClr val="E7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Gate head L5"/>
          <p:cNvSpPr txBox="1"/>
          <p:nvPr/>
        </p:nvSpPr>
        <p:spPr>
          <a:xfrm>
            <a:off x="9704320" y="2240000"/>
            <a:ext cx="188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C78F0"/>
                </a:solidFill>
              </a:rPr>
              <a:t>L5  </a:t>
            </a:r>
            <a:r>
              <a:rPr sz="1300" b="1">
                <a:solidFill>
                  <a:srgbClr val="0A1628"/>
                </a:solidFill>
              </a:rPr>
              <a:t>CI/CD</a:t>
            </a:r>
          </a:p>
        </p:txBody>
      </p:sp>
      <p:sp>
        <p:nvSpPr>
          <p:cNvPr id="28" name="Gate body L5"/>
          <p:cNvSpPr txBox="1"/>
          <p:nvPr/>
        </p:nvSpPr>
        <p:spPr>
          <a:xfrm>
            <a:off x="9704320" y="2530000"/>
            <a:ext cx="188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B6B82"/>
                </a:solidFill>
              </a:rPr>
              <a:t>Pipeline must be done before reporting slices start</a:t>
            </a:r>
          </a:p>
        </p:txBody>
      </p:sp>
      <p:sp>
        <p:nvSpPr>
          <p:cNvPr id="29" name="Checks line"/>
          <p:cNvSpPr txBox="1"/>
          <p:nvPr/>
        </p:nvSpPr>
        <p:spPr>
          <a:xfrm>
            <a:off x="502920" y="3230000"/>
            <a:ext cx="112014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A1628"/>
                </a:solidFill>
              </a:rPr>
              <a:t>Every slice clears eight checks: </a:t>
            </a:r>
            <a:r>
              <a:rPr sz="1150" b="0">
                <a:solidFill>
                  <a:srgbClr val="5B6B82"/>
                </a:solidFill>
              </a:rPr>
              <a:t>Domain · App · Infra · Web · Unit · Integration · E2E · Parity.  </a:t>
            </a:r>
            <a:r>
              <a:rPr sz="1150" b="1">
                <a:solidFill>
                  <a:srgbClr val="0C78F0"/>
                </a:solidFill>
              </a:rPr>
              <a:t>L3 is a human gate.</a:t>
            </a:r>
          </a:p>
        </p:txBody>
      </p:sp>
      <p:sp>
        <p:nvSpPr>
          <p:cNvPr id="30" name="Hdr Risk"/>
          <p:cNvSpPr txBox="1"/>
          <p:nvPr/>
        </p:nvSpPr>
        <p:spPr>
          <a:xfrm>
            <a:off x="562920" y="3560000"/>
            <a:ext cx="319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5B6B82"/>
                </a:solidFill>
              </a:rPr>
              <a:t>Risk</a:t>
            </a:r>
          </a:p>
        </p:txBody>
      </p:sp>
      <p:sp>
        <p:nvSpPr>
          <p:cNvPr id="31" name="Hdr Severity"/>
          <p:cNvSpPr txBox="1"/>
          <p:nvPr/>
        </p:nvSpPr>
        <p:spPr>
          <a:xfrm>
            <a:off x="3912920" y="3560000"/>
            <a:ext cx="124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5B6B82"/>
                </a:solidFill>
              </a:rPr>
              <a:t>Severity</a:t>
            </a:r>
          </a:p>
        </p:txBody>
      </p:sp>
      <p:sp>
        <p:nvSpPr>
          <p:cNvPr id="32" name="Hdr How we control it"/>
          <p:cNvSpPr txBox="1"/>
          <p:nvPr/>
        </p:nvSpPr>
        <p:spPr>
          <a:xfrm>
            <a:off x="5312920" y="3560000"/>
            <a:ext cx="424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5B6B82"/>
                </a:solidFill>
              </a:rPr>
              <a:t>How we control it</a:t>
            </a:r>
          </a:p>
        </p:txBody>
      </p:sp>
      <p:sp>
        <p:nvSpPr>
          <p:cNvPr id="33" name="Hdr Gate that catches it"/>
          <p:cNvSpPr txBox="1"/>
          <p:nvPr/>
        </p:nvSpPr>
        <p:spPr>
          <a:xfrm>
            <a:off x="9712920" y="3560000"/>
            <a:ext cx="199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5B6B82"/>
                </a:solidFill>
              </a:rPr>
              <a:t>Gate that catches it</a:t>
            </a:r>
          </a:p>
        </p:txBody>
      </p:sp>
      <p:sp>
        <p:nvSpPr>
          <p:cNvPr id="34" name="Row band 1"/>
          <p:cNvSpPr/>
          <p:nvPr/>
        </p:nvSpPr>
        <p:spPr>
          <a:xfrm>
            <a:off x="502920" y="3840000"/>
            <a:ext cx="11201400" cy="470000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isk 1"/>
          <p:cNvSpPr txBox="1"/>
          <p:nvPr/>
        </p:nvSpPr>
        <p:spPr>
          <a:xfrm>
            <a:off x="562920" y="3840000"/>
            <a:ext cx="315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A1628"/>
                </a:solidFill>
              </a:rPr>
              <a:t>EF6 → EF Core query and behavior drift</a:t>
            </a:r>
          </a:p>
        </p:txBody>
      </p:sp>
      <p:sp>
        <p:nvSpPr>
          <p:cNvPr id="36" name="Severity 1"/>
          <p:cNvSpPr/>
          <p:nvPr/>
        </p:nvSpPr>
        <p:spPr>
          <a:xfrm>
            <a:off x="3912920" y="3950000"/>
            <a:ext cx="1000000" cy="25000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B42318"/>
                </a:solidFill>
              </a:rPr>
              <a:t>High</a:t>
            </a:r>
          </a:p>
        </p:txBody>
      </p:sp>
      <p:sp>
        <p:nvSpPr>
          <p:cNvPr id="37" name="Control 1"/>
          <p:cNvSpPr txBox="1"/>
          <p:nvPr/>
        </p:nvSpPr>
        <p:spPr>
          <a:xfrm>
            <a:off x="5312920" y="3840000"/>
            <a:ext cx="42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</a:rPr>
              <a:t>Validate data parity against Azure SQL before any tuning</a:t>
            </a:r>
          </a:p>
        </p:txBody>
      </p:sp>
      <p:sp>
        <p:nvSpPr>
          <p:cNvPr id="38" name="Gate 1"/>
          <p:cNvSpPr txBox="1"/>
          <p:nvPr/>
        </p:nvSpPr>
        <p:spPr>
          <a:xfrm>
            <a:off x="9712920" y="3840000"/>
            <a:ext cx="199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</a:rPr>
              <a:t>L3 human gate</a:t>
            </a:r>
          </a:p>
        </p:txBody>
      </p:sp>
      <p:sp>
        <p:nvSpPr>
          <p:cNvPr id="39" name="Risk 2"/>
          <p:cNvSpPr txBox="1"/>
          <p:nvPr/>
        </p:nvSpPr>
        <p:spPr>
          <a:xfrm>
            <a:off x="562920" y="4310000"/>
            <a:ext cx="315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A1628"/>
                </a:solidFill>
              </a:rPr>
              <a:t>OWIN → ASP.NET Core port, the biggest single rewrite</a:t>
            </a:r>
          </a:p>
        </p:txBody>
      </p:sp>
      <p:sp>
        <p:nvSpPr>
          <p:cNvPr id="40" name="Severity 2"/>
          <p:cNvSpPr/>
          <p:nvPr/>
        </p:nvSpPr>
        <p:spPr>
          <a:xfrm>
            <a:off x="3912920" y="4420000"/>
            <a:ext cx="1000000" cy="25000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B42318"/>
                </a:solidFill>
              </a:rPr>
              <a:t>High</a:t>
            </a:r>
          </a:p>
        </p:txBody>
      </p:sp>
      <p:sp>
        <p:nvSpPr>
          <p:cNvPr id="41" name="Control 2"/>
          <p:cNvSpPr txBox="1"/>
          <p:nvPr/>
        </p:nvSpPr>
        <p:spPr>
          <a:xfrm>
            <a:off x="5312920" y="4310000"/>
            <a:ext cx="42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</a:rPr>
              <a:t>Golden-master tests on auth flows</a:t>
            </a:r>
          </a:p>
        </p:txBody>
      </p:sp>
      <p:sp>
        <p:nvSpPr>
          <p:cNvPr id="42" name="Gate 2"/>
          <p:cNvSpPr txBox="1"/>
          <p:nvPr/>
        </p:nvSpPr>
        <p:spPr>
          <a:xfrm>
            <a:off x="9712920" y="4310000"/>
            <a:ext cx="199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</a:rPr>
              <a:t>L0 foundation</a:t>
            </a:r>
          </a:p>
        </p:txBody>
      </p:sp>
      <p:sp>
        <p:nvSpPr>
          <p:cNvPr id="43" name="Row band 3"/>
          <p:cNvSpPr/>
          <p:nvPr/>
        </p:nvSpPr>
        <p:spPr>
          <a:xfrm>
            <a:off x="502920" y="4780000"/>
            <a:ext cx="11201400" cy="470000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isk 3"/>
          <p:cNvSpPr txBox="1"/>
          <p:nvPr/>
        </p:nvSpPr>
        <p:spPr>
          <a:xfrm>
            <a:off x="562920" y="4780000"/>
            <a:ext cx="315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A1628"/>
                </a:solidFill>
              </a:rPr>
              <a:t>B2C token validation regression (ADAL → MSAL)</a:t>
            </a:r>
          </a:p>
        </p:txBody>
      </p:sp>
      <p:sp>
        <p:nvSpPr>
          <p:cNvPr id="45" name="Severity 3"/>
          <p:cNvSpPr/>
          <p:nvPr/>
        </p:nvSpPr>
        <p:spPr>
          <a:xfrm>
            <a:off x="3912920" y="4890000"/>
            <a:ext cx="1000000" cy="250000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8A5A00"/>
                </a:solidFill>
              </a:rPr>
              <a:t>Medium</a:t>
            </a:r>
          </a:p>
        </p:txBody>
      </p:sp>
      <p:sp>
        <p:nvSpPr>
          <p:cNvPr id="46" name="Control 3"/>
          <p:cNvSpPr txBox="1"/>
          <p:nvPr/>
        </p:nvSpPr>
        <p:spPr>
          <a:xfrm>
            <a:off x="5312920" y="4780000"/>
            <a:ext cx="42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</a:rPr>
              <a:t>Explicit authorization tests, reviewed by the TechioSoft Tech Lead</a:t>
            </a:r>
          </a:p>
        </p:txBody>
      </p:sp>
      <p:sp>
        <p:nvSpPr>
          <p:cNvPr id="47" name="Gate 3"/>
          <p:cNvSpPr txBox="1"/>
          <p:nvPr/>
        </p:nvSpPr>
        <p:spPr>
          <a:xfrm>
            <a:off x="9712920" y="4780000"/>
            <a:ext cx="199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</a:rPr>
              <a:t>L3 human gate</a:t>
            </a:r>
          </a:p>
        </p:txBody>
      </p:sp>
      <p:sp>
        <p:nvSpPr>
          <p:cNvPr id="48" name="Risk 4"/>
          <p:cNvSpPr txBox="1"/>
          <p:nvPr/>
        </p:nvSpPr>
        <p:spPr>
          <a:xfrm>
            <a:off x="562920" y="5250000"/>
            <a:ext cx="315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A1628"/>
                </a:solidFill>
              </a:rPr>
              <a:t>Contract drift across 20 controllers</a:t>
            </a:r>
          </a:p>
        </p:txBody>
      </p:sp>
      <p:sp>
        <p:nvSpPr>
          <p:cNvPr id="49" name="Severity 4"/>
          <p:cNvSpPr/>
          <p:nvPr/>
        </p:nvSpPr>
        <p:spPr>
          <a:xfrm>
            <a:off x="3912920" y="5360000"/>
            <a:ext cx="1000000" cy="250000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8A5A00"/>
                </a:solidFill>
              </a:rPr>
              <a:t>Medium</a:t>
            </a:r>
          </a:p>
        </p:txBody>
      </p:sp>
      <p:sp>
        <p:nvSpPr>
          <p:cNvPr id="50" name="Control 4"/>
          <p:cNvSpPr txBox="1"/>
          <p:nvPr/>
        </p:nvSpPr>
        <p:spPr>
          <a:xfrm>
            <a:off x="5312920" y="5250000"/>
            <a:ext cx="42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</a:rPr>
              <a:t>Capture the golden master on .NET 4.8 before code changes</a:t>
            </a:r>
          </a:p>
        </p:txBody>
      </p:sp>
      <p:sp>
        <p:nvSpPr>
          <p:cNvPr id="51" name="Gate 4"/>
          <p:cNvSpPr txBox="1"/>
          <p:nvPr/>
        </p:nvSpPr>
        <p:spPr>
          <a:xfrm>
            <a:off x="9712920" y="5250000"/>
            <a:ext cx="199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</a:rPr>
              <a:t>L2 host</a:t>
            </a:r>
          </a:p>
        </p:txBody>
      </p:sp>
      <p:sp>
        <p:nvSpPr>
          <p:cNvPr id="52" name="Row band 5"/>
          <p:cNvSpPr/>
          <p:nvPr/>
        </p:nvSpPr>
        <p:spPr>
          <a:xfrm>
            <a:off x="502920" y="5720000"/>
            <a:ext cx="11201400" cy="470000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isk 5"/>
          <p:cNvSpPr txBox="1"/>
          <p:nvPr/>
        </p:nvSpPr>
        <p:spPr>
          <a:xfrm>
            <a:off x="562920" y="5720000"/>
            <a:ext cx="315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A1628"/>
                </a:solidFill>
              </a:rPr>
              <a:t>Plan accuracy: a reference labeled "dead" was still registered</a:t>
            </a:r>
          </a:p>
        </p:txBody>
      </p:sp>
      <p:sp>
        <p:nvSpPr>
          <p:cNvPr id="54" name="Severity 5"/>
          <p:cNvSpPr/>
          <p:nvPr/>
        </p:nvSpPr>
        <p:spPr>
          <a:xfrm>
            <a:off x="3912920" y="5830000"/>
            <a:ext cx="1000000" cy="250000"/>
          </a:xfrm>
          <a:prstGeom prst="roundRect">
            <a:avLst>
              <a:gd name="adj" fmla="val 50000"/>
            </a:avLst>
          </a:prstGeom>
          <a:solidFill>
            <a:srgbClr val="E3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1E7B3F"/>
                </a:solidFill>
              </a:rPr>
              <a:t>Resolved</a:t>
            </a:r>
          </a:p>
        </p:txBody>
      </p:sp>
      <p:sp>
        <p:nvSpPr>
          <p:cNvPr id="55" name="Control 5"/>
          <p:cNvSpPr txBox="1"/>
          <p:nvPr/>
        </p:nvSpPr>
        <p:spPr>
          <a:xfrm>
            <a:off x="5312920" y="5720000"/>
            <a:ext cx="42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</a:rPr>
              <a:t>The build caught it on self-heal iteration 2. Lesson: check "dead" code with a real build, not grep alone.</a:t>
            </a:r>
          </a:p>
        </p:txBody>
      </p:sp>
      <p:sp>
        <p:nvSpPr>
          <p:cNvPr id="56" name="Gate 5"/>
          <p:cNvSpPr txBox="1"/>
          <p:nvPr/>
        </p:nvSpPr>
        <p:spPr>
          <a:xfrm>
            <a:off x="9712920" y="5720000"/>
            <a:ext cx="199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</a:rPr>
              <a:t>Build + closure trace</a:t>
            </a:r>
          </a:p>
        </p:txBody>
      </p:sp>
    </p:spTree>
    <p:extLst>
      <p:ext uri="{BB962C8B-B14F-4D97-AF65-F5344CB8AC3E}">
        <p14:creationId xmlns:p14="http://schemas.microsoft.com/office/powerpoint/2010/main" val="3026094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0CA388-F646-BABC-62D4-2C8F31B86F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4" r="4599" b="10052"/>
          <a:stretch>
            <a:fillRect/>
          </a:stretch>
        </p:blipFill>
        <p:spPr>
          <a:xfrm>
            <a:off x="492760" y="1330837"/>
            <a:ext cx="5709453" cy="303719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86DA57B-81E8-BE7B-1D8D-1E4B97CE91F5}"/>
              </a:ext>
            </a:extLst>
          </p:cNvPr>
          <p:cNvSpPr txBox="1"/>
          <p:nvPr/>
        </p:nvSpPr>
        <p:spPr>
          <a:xfrm>
            <a:off x="502920" y="85852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A1628"/>
                </a:solidFill>
                <a:ea typeface="+mn-lt"/>
                <a:cs typeface="+mn-lt"/>
              </a:rPr>
              <a:t>Live progress dashboard (status) and Slicing rules</a:t>
            </a:r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064D65-8918-CAEB-9867-EB068301FA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591" r="195" b="-455"/>
          <a:stretch>
            <a:fillRect/>
          </a:stretch>
        </p:blipFill>
        <p:spPr>
          <a:xfrm>
            <a:off x="6803072" y="1759585"/>
            <a:ext cx="5200021" cy="218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08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6E7B1-B331-5412-EBD4-3B1ADB7EA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D0B1CC-F81E-0872-C7DF-63E9EECB9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53" y="239889"/>
            <a:ext cx="3013428" cy="57573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DC76A63B-9A4C-55FA-7EF4-0715C58C519D}"/>
              </a:ext>
            </a:extLst>
          </p:cNvPr>
          <p:cNvSpPr txBox="1"/>
          <p:nvPr/>
        </p:nvSpPr>
        <p:spPr>
          <a:xfrm>
            <a:off x="502920" y="105156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A1628"/>
                </a:solidFill>
                <a:ea typeface="+mn-lt"/>
                <a:cs typeface="+mn-lt"/>
              </a:rPr>
              <a:t>Prompts → Outputs → Refinement (the loop)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45E98D84-4349-E8B1-75FB-7148BA218B21}"/>
              </a:ext>
            </a:extLst>
          </p:cNvPr>
          <p:cNvSpPr txBox="1"/>
          <p:nvPr/>
        </p:nvSpPr>
        <p:spPr>
          <a:xfrm>
            <a:off x="502920" y="1641079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B6B82"/>
                </a:solidFill>
                <a:ea typeface="+mn-lt"/>
                <a:cs typeface="+mn-lt"/>
              </a:rPr>
              <a:t>Human intent in, reviewed change out — iteratively</a:t>
            </a:r>
            <a:endParaRPr lang="en-US"/>
          </a:p>
        </p:txBody>
      </p:sp>
      <p:sp>
        <p:nvSpPr>
          <p:cNvPr id="11" name="Shape 17">
            <a:extLst>
              <a:ext uri="{FF2B5EF4-FFF2-40B4-BE49-F238E27FC236}">
                <a16:creationId xmlns:a16="http://schemas.microsoft.com/office/drawing/2014/main" id="{181CDDDA-59EC-329F-A5AF-458104DA3935}"/>
              </a:ext>
            </a:extLst>
          </p:cNvPr>
          <p:cNvSpPr/>
          <p:nvPr/>
        </p:nvSpPr>
        <p:spPr>
          <a:xfrm>
            <a:off x="6436360" y="2534816"/>
            <a:ext cx="4251960" cy="2548709"/>
          </a:xfrm>
          <a:prstGeom prst="roundRect">
            <a:avLst>
              <a:gd name="adj" fmla="val 2162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80D24064-1FAE-5286-943E-0A72D652BC09}"/>
              </a:ext>
            </a:extLst>
          </p:cNvPr>
          <p:cNvSpPr txBox="1"/>
          <p:nvPr/>
        </p:nvSpPr>
        <p:spPr>
          <a:xfrm>
            <a:off x="6834984" y="2828834"/>
            <a:ext cx="3454400" cy="1966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>
                <a:solidFill>
                  <a:srgbClr val="FFFFFF"/>
                </a:solidFill>
                <a:ea typeface="+mn-lt"/>
                <a:cs typeface="+mn-lt"/>
              </a:rPr>
              <a:t>It's a conversation. Our Tech Lead asks, the agent produces a reviewable PR, we refine. Every step leaves a documented artifact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9C5B2A-06E1-D11A-7887-2896CE109D45}"/>
              </a:ext>
            </a:extLst>
          </p:cNvPr>
          <p:cNvSpPr txBox="1"/>
          <p:nvPr/>
        </p:nvSpPr>
        <p:spPr>
          <a:xfrm>
            <a:off x="466531" y="2286000"/>
            <a:ext cx="5697893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accent1">
                    <a:lumMod val="76000"/>
                  </a:schemeClr>
                </a:solidFill>
                <a:latin typeface="Calibri"/>
                <a:ea typeface="Calibri"/>
                <a:cs typeface="+mn-lt"/>
              </a:rPr>
              <a:t>Prompt</a:t>
            </a:r>
            <a:r>
              <a:rPr lang="en-US">
                <a:latin typeface="Calibri"/>
                <a:ea typeface="Calibri"/>
                <a:cs typeface="+mn-lt"/>
              </a:rPr>
              <a:t>: </a:t>
            </a:r>
            <a:r>
              <a:rPr lang="en-US" sz="1600">
                <a:latin typeface="Calibri"/>
                <a:ea typeface="Calibri"/>
                <a:cs typeface="+mn-lt"/>
              </a:rPr>
              <a:t>"</a:t>
            </a:r>
            <a:r>
              <a:rPr lang="en-US" sz="1600" i="1">
                <a:latin typeface="Calibri"/>
                <a:ea typeface="Calibri"/>
                <a:cs typeface="+mn-lt"/>
              </a:rPr>
              <a:t>Port the 20 controllers to ASP.NET Core</a:t>
            </a:r>
            <a:r>
              <a:rPr lang="en-US" sz="1600">
                <a:latin typeface="Calibri"/>
                <a:ea typeface="Calibri"/>
                <a:cs typeface="+mn-lt"/>
              </a:rPr>
              <a:t>"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>
              <a:latin typeface="Calibri"/>
              <a:ea typeface="Calibri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accent1">
                    <a:lumMod val="76000"/>
                  </a:schemeClr>
                </a:solidFill>
                <a:latin typeface="Calibri"/>
                <a:ea typeface="Calibri"/>
                <a:cs typeface="+mn-lt"/>
              </a:rPr>
              <a:t>Output</a:t>
            </a:r>
            <a:r>
              <a:rPr lang="en-US">
                <a:latin typeface="Calibri"/>
                <a:ea typeface="Calibri"/>
                <a:cs typeface="+mn-lt"/>
              </a:rPr>
              <a:t>: </a:t>
            </a:r>
            <a:r>
              <a:rPr lang="en-US" sz="1600">
                <a:latin typeface="Calibri"/>
                <a:ea typeface="Calibri"/>
                <a:cs typeface="+mn-lt"/>
              </a:rPr>
              <a:t>20 controllers migrated, 59 endpoints reconciled 1:1 with legacy</a:t>
            </a:r>
            <a:endParaRPr lang="en-US" sz="1600">
              <a:latin typeface="Calibri"/>
              <a:ea typeface="Calibri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>
              <a:latin typeface="Calibri"/>
              <a:ea typeface="Calibri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accent1">
                    <a:lumMod val="76000"/>
                  </a:schemeClr>
                </a:solidFill>
                <a:latin typeface="Calibri"/>
                <a:ea typeface="Calibri"/>
                <a:cs typeface="+mn-lt"/>
              </a:rPr>
              <a:t>Refinement</a:t>
            </a:r>
            <a:r>
              <a:rPr lang="en-US">
                <a:solidFill>
                  <a:schemeClr val="accent1">
                    <a:lumMod val="76000"/>
                  </a:schemeClr>
                </a:solidFill>
                <a:latin typeface="Calibri"/>
                <a:ea typeface="Calibri"/>
                <a:cs typeface="+mn-lt"/>
              </a:rPr>
              <a:t>:</a:t>
            </a:r>
            <a:r>
              <a:rPr lang="en-US">
                <a:latin typeface="Calibri"/>
                <a:ea typeface="Calibri"/>
                <a:cs typeface="+mn-lt"/>
              </a:rPr>
              <a:t> </a:t>
            </a:r>
            <a:r>
              <a:rPr lang="en-US" sz="1600">
                <a:latin typeface="Calibri"/>
                <a:ea typeface="Calibri"/>
                <a:cs typeface="+mn-lt"/>
              </a:rPr>
              <a:t>review caught runtime parity bugs a green build missed → fixed (model binding, ambiguous routes)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>
              <a:latin typeface="Calibri"/>
              <a:ea typeface="Calibri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accent1">
                    <a:lumMod val="76000"/>
                  </a:schemeClr>
                </a:solidFill>
                <a:latin typeface="Calibri"/>
                <a:ea typeface="Calibri"/>
                <a:cs typeface="+mn-lt"/>
              </a:rPr>
              <a:t>Artifacts produced along the way</a:t>
            </a:r>
            <a:r>
              <a:rPr lang="en-US">
                <a:latin typeface="Calibri"/>
                <a:ea typeface="Calibri"/>
                <a:cs typeface="+mn-lt"/>
              </a:rPr>
              <a:t>: </a:t>
            </a:r>
            <a:r>
              <a:rPr lang="en-US" sz="1600">
                <a:latin typeface="Calibri"/>
                <a:ea typeface="Calibri"/>
                <a:cs typeface="+mn-lt"/>
              </a:rPr>
              <a:t>endpoint inventory - contract-parity test harness - live progress dashboard - access checklist - local-run guide</a:t>
            </a:r>
            <a:endParaRPr lang="en-US" sz="1600">
              <a:latin typeface="Calibri"/>
              <a:ea typeface="Calibri"/>
              <a:cs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AD92B-C084-806A-3197-C02F91A922FC}"/>
              </a:ext>
            </a:extLst>
          </p:cNvPr>
          <p:cNvSpPr txBox="1"/>
          <p:nvPr/>
        </p:nvSpPr>
        <p:spPr>
          <a:xfrm>
            <a:off x="502815" y="6375918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Techiosoft</a:t>
            </a:r>
            <a:r>
              <a:rPr lang="en-US" sz="1600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 Systems Inc.</a:t>
            </a:r>
          </a:p>
        </p:txBody>
      </p:sp>
    </p:spTree>
    <p:extLst>
      <p:ext uri="{BB962C8B-B14F-4D97-AF65-F5344CB8AC3E}">
        <p14:creationId xmlns:p14="http://schemas.microsoft.com/office/powerpoint/2010/main" val="712817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B8B1E-B63D-9BF2-0687-580AA710D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E429E9-5FCC-8EA3-C2EA-341E767FA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53" y="239889"/>
            <a:ext cx="3013428" cy="575734"/>
          </a:xfrm>
          <a:prstGeom prst="rect">
            <a:avLst/>
          </a:prstGeom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F78D357A-ABC1-6632-6273-2A84ACBC70D9}"/>
              </a:ext>
            </a:extLst>
          </p:cNvPr>
          <p:cNvSpPr/>
          <p:nvPr/>
        </p:nvSpPr>
        <p:spPr>
          <a:xfrm>
            <a:off x="502920" y="2240280"/>
            <a:ext cx="2628900" cy="2606040"/>
          </a:xfrm>
          <a:prstGeom prst="roundRect">
            <a:avLst>
              <a:gd name="adj" fmla="val 2807"/>
            </a:avLst>
          </a:prstGeom>
          <a:solidFill>
            <a:srgbClr val="E7F0FE"/>
          </a:solidFill>
          <a:ln w="12700">
            <a:solidFill>
              <a:srgbClr val="E7F0FE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D149984-B08F-A266-450C-C62464DDCD1C}"/>
              </a:ext>
            </a:extLst>
          </p:cNvPr>
          <p:cNvSpPr txBox="1"/>
          <p:nvPr/>
        </p:nvSpPr>
        <p:spPr>
          <a:xfrm>
            <a:off x="777240" y="2514600"/>
            <a:ext cx="20802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0C78F0"/>
                </a:solidFill>
                <a:latin typeface="Cambria"/>
                <a:ea typeface="Cambria"/>
              </a:rPr>
              <a:t>8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F504D0F-9921-0C81-A0C9-0257634527AC}"/>
              </a:ext>
            </a:extLst>
          </p:cNvPr>
          <p:cNvSpPr txBox="1"/>
          <p:nvPr/>
        </p:nvSpPr>
        <p:spPr>
          <a:xfrm>
            <a:off x="777240" y="3429000"/>
            <a:ext cx="20802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0A1628"/>
                </a:solidFill>
                <a:ea typeface="+mn-lt"/>
                <a:cs typeface="+mn-lt"/>
              </a:rPr>
              <a:t>EF6→EF Core parity bugs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518E6B1-157A-DEC8-87CA-BEAF8C09105E}"/>
              </a:ext>
            </a:extLst>
          </p:cNvPr>
          <p:cNvSpPr txBox="1"/>
          <p:nvPr/>
        </p:nvSpPr>
        <p:spPr>
          <a:xfrm>
            <a:off x="777240" y="3813048"/>
            <a:ext cx="20802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surfaced by running the modern app against the real database — all fixed</a:t>
            </a:r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8905EFFD-2BDD-ECBB-F17D-150335B07C74}"/>
              </a:ext>
            </a:extLst>
          </p:cNvPr>
          <p:cNvSpPr/>
          <p:nvPr/>
        </p:nvSpPr>
        <p:spPr>
          <a:xfrm>
            <a:off x="3360420" y="2240280"/>
            <a:ext cx="2628900" cy="2606040"/>
          </a:xfrm>
          <a:prstGeom prst="roundRect">
            <a:avLst>
              <a:gd name="adj" fmla="val 2807"/>
            </a:avLst>
          </a:prstGeom>
          <a:solidFill>
            <a:srgbClr val="E7F0FE"/>
          </a:solidFill>
          <a:ln w="12700">
            <a:solidFill>
              <a:srgbClr val="E7F0FE"/>
            </a:solidFill>
            <a:prstDash val="solid"/>
          </a:ln>
        </p:spPr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AF3AEA36-9FC7-1D62-D098-11FA00A8D4C5}"/>
              </a:ext>
            </a:extLst>
          </p:cNvPr>
          <p:cNvSpPr txBox="1"/>
          <p:nvPr/>
        </p:nvSpPr>
        <p:spPr>
          <a:xfrm>
            <a:off x="3634740" y="2514600"/>
            <a:ext cx="20802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0C78F0"/>
                </a:solidFill>
                <a:latin typeface="Cambria"/>
                <a:ea typeface="Cambria"/>
              </a:rPr>
              <a:t>6</a:t>
            </a:r>
            <a:endParaRPr lang="en-US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2D8EC516-BBA9-3DA0-1E00-3A754F38A53A}"/>
              </a:ext>
            </a:extLst>
          </p:cNvPr>
          <p:cNvSpPr txBox="1"/>
          <p:nvPr/>
        </p:nvSpPr>
        <p:spPr>
          <a:xfrm>
            <a:off x="3634740" y="3429000"/>
            <a:ext cx="20802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0A1628"/>
                </a:solidFill>
                <a:ea typeface="+mn-lt"/>
                <a:cs typeface="+mn-lt"/>
              </a:rPr>
              <a:t>self-healing fix cycles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8A17B712-C54E-DCF5-DF87-9FF17EDF0E12}"/>
              </a:ext>
            </a:extLst>
          </p:cNvPr>
          <p:cNvSpPr txBox="1"/>
          <p:nvPr/>
        </p:nvSpPr>
        <p:spPr>
          <a:xfrm>
            <a:off x="3634740" y="3813048"/>
            <a:ext cx="20802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100% converged (avg 2 iterations)</a:t>
            </a:r>
            <a:endParaRPr lang="en-US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7DA8C999-E325-F555-24E7-BCB7ADF8DD97}"/>
              </a:ext>
            </a:extLst>
          </p:cNvPr>
          <p:cNvSpPr/>
          <p:nvPr/>
        </p:nvSpPr>
        <p:spPr>
          <a:xfrm>
            <a:off x="6217920" y="2240280"/>
            <a:ext cx="2628900" cy="2606040"/>
          </a:xfrm>
          <a:prstGeom prst="roundRect">
            <a:avLst>
              <a:gd name="adj" fmla="val 2807"/>
            </a:avLst>
          </a:prstGeom>
          <a:solidFill>
            <a:srgbClr val="E7F0FE"/>
          </a:solidFill>
          <a:ln w="12700">
            <a:solidFill>
              <a:srgbClr val="E7F0FE"/>
            </a:solidFill>
            <a:prstDash val="solid"/>
          </a:ln>
        </p:spPr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69659BDB-2B82-E412-4B0D-8A2145B2B7CE}"/>
              </a:ext>
            </a:extLst>
          </p:cNvPr>
          <p:cNvSpPr txBox="1"/>
          <p:nvPr/>
        </p:nvSpPr>
        <p:spPr>
          <a:xfrm>
            <a:off x="6492240" y="2514600"/>
            <a:ext cx="20802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0C78F0"/>
                </a:solidFill>
                <a:latin typeface="Cambria"/>
                <a:ea typeface="Cambria"/>
              </a:rPr>
              <a:t>2</a:t>
            </a:r>
            <a:endParaRPr lang="en-US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2555A509-8196-CBBE-42E0-6B5FBB3F0E03}"/>
              </a:ext>
            </a:extLst>
          </p:cNvPr>
          <p:cNvSpPr txBox="1"/>
          <p:nvPr/>
        </p:nvSpPr>
        <p:spPr>
          <a:xfrm>
            <a:off x="6492240" y="3429000"/>
            <a:ext cx="20802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0A1628"/>
                </a:solidFill>
                <a:ea typeface="+mn-lt"/>
                <a:cs typeface="+mn-lt"/>
              </a:rPr>
              <a:t>runtime-only defects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9B07D09D-D0B2-728E-295C-5449F385DDFC}"/>
              </a:ext>
            </a:extLst>
          </p:cNvPr>
          <p:cNvSpPr txBox="1"/>
          <p:nvPr/>
        </p:nvSpPr>
        <p:spPr>
          <a:xfrm>
            <a:off x="6492240" y="3781946"/>
            <a:ext cx="2152831" cy="899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Independent code-review agent caught defects a passing build hid</a:t>
            </a:r>
            <a:endParaRPr lang="en-US"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530AA66C-B185-22F2-2365-6443B1A4C3A6}"/>
              </a:ext>
            </a:extLst>
          </p:cNvPr>
          <p:cNvSpPr/>
          <p:nvPr/>
        </p:nvSpPr>
        <p:spPr>
          <a:xfrm>
            <a:off x="9075420" y="2240280"/>
            <a:ext cx="2628900" cy="2606040"/>
          </a:xfrm>
          <a:prstGeom prst="roundRect">
            <a:avLst>
              <a:gd name="adj" fmla="val 2807"/>
            </a:avLst>
          </a:prstGeom>
          <a:solidFill>
            <a:srgbClr val="E7F0FE"/>
          </a:solidFill>
          <a:ln w="12700">
            <a:solidFill>
              <a:srgbClr val="E7F0FE"/>
            </a:solidFill>
            <a:prstDash val="solid"/>
          </a:ln>
        </p:spPr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E1D6F574-67C2-AD8D-0F0A-AE9A5667A6DA}"/>
              </a:ext>
            </a:extLst>
          </p:cNvPr>
          <p:cNvSpPr txBox="1"/>
          <p:nvPr/>
        </p:nvSpPr>
        <p:spPr>
          <a:xfrm>
            <a:off x="9349740" y="2514600"/>
            <a:ext cx="20802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0C78F0"/>
                </a:solidFill>
                <a:latin typeface="Cambria"/>
                <a:ea typeface="Cambria"/>
              </a:rPr>
              <a:t>22</a:t>
            </a:r>
            <a:endParaRPr lang="en-US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84F0C796-6689-A715-B23D-FE7B49A3F4F8}"/>
              </a:ext>
            </a:extLst>
          </p:cNvPr>
          <p:cNvSpPr txBox="1"/>
          <p:nvPr/>
        </p:nvSpPr>
        <p:spPr>
          <a:xfrm>
            <a:off x="9349740" y="3429000"/>
            <a:ext cx="20802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Endpoints</a:t>
            </a:r>
            <a:endParaRPr lang="en-US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C3B35E65-E1C1-D53C-9C48-2AA9E1136410}"/>
              </a:ext>
            </a:extLst>
          </p:cNvPr>
          <p:cNvSpPr txBox="1"/>
          <p:nvPr/>
        </p:nvSpPr>
        <p:spPr>
          <a:xfrm>
            <a:off x="9349740" y="3813048"/>
            <a:ext cx="20802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modern API now returns real client data from the Dev database</a:t>
            </a:r>
            <a:endParaRPr lang="en-US"/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8800FC8F-FDD3-0E72-EF39-87120A7ECD13}"/>
              </a:ext>
            </a:extLst>
          </p:cNvPr>
          <p:cNvSpPr/>
          <p:nvPr/>
        </p:nvSpPr>
        <p:spPr>
          <a:xfrm>
            <a:off x="502920" y="5074920"/>
            <a:ext cx="11201400" cy="1097280"/>
          </a:xfrm>
          <a:prstGeom prst="roundRect">
            <a:avLst>
              <a:gd name="adj" fmla="val 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64005902-ECAC-B19A-C536-C6B0A45F7F94}"/>
              </a:ext>
            </a:extLst>
          </p:cNvPr>
          <p:cNvSpPr/>
          <p:nvPr/>
        </p:nvSpPr>
        <p:spPr>
          <a:xfrm>
            <a:off x="868680" y="5340096"/>
            <a:ext cx="566928" cy="566928"/>
          </a:xfrm>
          <a:prstGeom prst="ellipse">
            <a:avLst/>
          </a:prstGeom>
          <a:solidFill>
            <a:srgbClr val="0C78F0"/>
          </a:solidFill>
          <a:ln w="12700">
            <a:solidFill>
              <a:srgbClr val="0C78F0"/>
            </a:solidFill>
            <a:prstDash val="solid"/>
          </a:ln>
        </p:spPr>
      </p:sp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C1FC3DCE-1B08-8E75-4466-80B111203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51" y="5493167"/>
            <a:ext cx="260787" cy="260787"/>
          </a:xfrm>
          <a:prstGeom prst="rect">
            <a:avLst/>
          </a:prstGeom>
        </p:spPr>
      </p:pic>
      <p:sp>
        <p:nvSpPr>
          <p:cNvPr id="43" name="Text 21">
            <a:extLst>
              <a:ext uri="{FF2B5EF4-FFF2-40B4-BE49-F238E27FC236}">
                <a16:creationId xmlns:a16="http://schemas.microsoft.com/office/drawing/2014/main" id="{7948665F-0A19-5541-2CE7-C216BB32F4BB}"/>
              </a:ext>
            </a:extLst>
          </p:cNvPr>
          <p:cNvSpPr txBox="1"/>
          <p:nvPr/>
        </p:nvSpPr>
        <p:spPr>
          <a:xfrm>
            <a:off x="1691640" y="52578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 Time Parity Checks</a:t>
            </a:r>
            <a:endParaRPr lang="en-US"/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085BD1CD-3102-C0C8-C593-8455113B6AE5}"/>
              </a:ext>
            </a:extLst>
          </p:cNvPr>
          <p:cNvSpPr txBox="1"/>
          <p:nvPr/>
        </p:nvSpPr>
        <p:spPr>
          <a:xfrm>
            <a:off x="1691640" y="56052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>
                <a:solidFill>
                  <a:srgbClr val="CBD8EE"/>
                </a:solidFill>
                <a:ea typeface="+mn-lt"/>
                <a:cs typeface="+mn-lt"/>
              </a:rPr>
              <a:t>These are subtle </a:t>
            </a:r>
            <a:r>
              <a:rPr lang="en-US" sz="1250" err="1">
                <a:solidFill>
                  <a:srgbClr val="CBD8EE"/>
                </a:solidFill>
                <a:ea typeface="+mn-lt"/>
                <a:cs typeface="+mn-lt"/>
              </a:rPr>
              <a:t>behavioural</a:t>
            </a:r>
            <a:r>
              <a:rPr lang="en-US" sz="1250">
                <a:solidFill>
                  <a:srgbClr val="CBD8EE"/>
                </a:solidFill>
                <a:ea typeface="+mn-lt"/>
                <a:cs typeface="+mn-lt"/>
              </a:rPr>
              <a:t> bugs that would've hit production. We caught them early by actually running it — not just compiling it</a:t>
            </a:r>
            <a:endParaRPr lang="en-US"/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D5D20E12-6E55-CB4C-A822-7BA35B9DCBBA}"/>
              </a:ext>
            </a:extLst>
          </p:cNvPr>
          <p:cNvSpPr txBox="1"/>
          <p:nvPr/>
        </p:nvSpPr>
        <p:spPr>
          <a:xfrm>
            <a:off x="502920" y="105156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A1628"/>
                </a:solidFill>
                <a:ea typeface="+mn-lt"/>
                <a:cs typeface="+mn-lt"/>
              </a:rPr>
              <a:t>Reviews &amp; Quality: Real Bugs Caught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5D8D3A3C-837F-E81F-6920-5C3CD9BBE683}"/>
              </a:ext>
            </a:extLst>
          </p:cNvPr>
          <p:cNvSpPr txBox="1"/>
          <p:nvPr/>
        </p:nvSpPr>
        <p:spPr>
          <a:xfrm>
            <a:off x="502920" y="1641079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B6B82"/>
                </a:solidFill>
                <a:ea typeface="+mn-lt"/>
                <a:cs typeface="+mn-lt"/>
              </a:rPr>
              <a:t>AI review + real data testing found what compilers couldn't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1064B-965F-A79D-6638-0E676785E46D}"/>
              </a:ext>
            </a:extLst>
          </p:cNvPr>
          <p:cNvSpPr txBox="1"/>
          <p:nvPr/>
        </p:nvSpPr>
        <p:spPr>
          <a:xfrm>
            <a:off x="502815" y="6375918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Techiosoft</a:t>
            </a:r>
            <a:r>
              <a:rPr lang="en-US" sz="1600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 Systems Inc.</a:t>
            </a:r>
          </a:p>
        </p:txBody>
      </p:sp>
    </p:spTree>
    <p:extLst>
      <p:ext uri="{BB962C8B-B14F-4D97-AF65-F5344CB8AC3E}">
        <p14:creationId xmlns:p14="http://schemas.microsoft.com/office/powerpoint/2010/main" val="2404327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48CCF-378B-705E-7143-F744D9A73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0937AA-9EEB-8507-2EBF-2AC9DBD8B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53" y="239889"/>
            <a:ext cx="3013428" cy="575734"/>
          </a:xfrm>
          <a:prstGeom prst="rect">
            <a:avLst/>
          </a:prstGeom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6D507C37-C787-BC84-ADF2-9EFF1E4985CD}"/>
              </a:ext>
            </a:extLst>
          </p:cNvPr>
          <p:cNvSpPr/>
          <p:nvPr/>
        </p:nvSpPr>
        <p:spPr>
          <a:xfrm>
            <a:off x="502920" y="2240280"/>
            <a:ext cx="2628900" cy="2606040"/>
          </a:xfrm>
          <a:prstGeom prst="roundRect">
            <a:avLst>
              <a:gd name="adj" fmla="val 2807"/>
            </a:avLst>
          </a:prstGeom>
          <a:solidFill>
            <a:srgbClr val="E7F0FE"/>
          </a:solidFill>
          <a:ln w="12700">
            <a:solidFill>
              <a:srgbClr val="E7F0FE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51BAB9E-D01E-2023-DA9A-DE3F36C7FB5E}"/>
              </a:ext>
            </a:extLst>
          </p:cNvPr>
          <p:cNvSpPr txBox="1"/>
          <p:nvPr/>
        </p:nvSpPr>
        <p:spPr>
          <a:xfrm>
            <a:off x="746138" y="2786224"/>
            <a:ext cx="2339443" cy="318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Vulnerable dependency avoided</a:t>
            </a:r>
            <a:endParaRPr lang="en-US" b="1">
              <a:solidFill>
                <a:schemeClr val="accent1">
                  <a:lumMod val="49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CED9157-2D2F-0859-2A52-F24F40F955AB}"/>
              </a:ext>
            </a:extLst>
          </p:cNvPr>
          <p:cNvSpPr txBox="1"/>
          <p:nvPr/>
        </p:nvSpPr>
        <p:spPr>
          <a:xfrm>
            <a:off x="777240" y="3813048"/>
            <a:ext cx="20802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pinned Microsoft Graph to dodge a known CVE (vulnerable </a:t>
            </a:r>
            <a:r>
              <a:rPr lang="en-US" sz="1250" err="1">
                <a:solidFill>
                  <a:srgbClr val="5B6B82"/>
                </a:solidFill>
                <a:ea typeface="+mn-lt"/>
                <a:cs typeface="+mn-lt"/>
              </a:rPr>
              <a:t>Kiota</a:t>
            </a:r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 1.x)</a:t>
            </a:r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9E6A738-9704-926A-7188-885D05962402}"/>
              </a:ext>
            </a:extLst>
          </p:cNvPr>
          <p:cNvSpPr/>
          <p:nvPr/>
        </p:nvSpPr>
        <p:spPr>
          <a:xfrm>
            <a:off x="3360420" y="2240280"/>
            <a:ext cx="2628900" cy="2606040"/>
          </a:xfrm>
          <a:prstGeom prst="roundRect">
            <a:avLst>
              <a:gd name="adj" fmla="val 2807"/>
            </a:avLst>
          </a:prstGeom>
          <a:solidFill>
            <a:srgbClr val="E7F0FE"/>
          </a:solidFill>
          <a:ln w="12700">
            <a:solidFill>
              <a:srgbClr val="E7F0FE"/>
            </a:solidFill>
            <a:prstDash val="solid"/>
          </a:ln>
        </p:spPr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DA802DBE-D853-436C-AF3C-D6106630138F}"/>
              </a:ext>
            </a:extLst>
          </p:cNvPr>
          <p:cNvSpPr txBox="1"/>
          <p:nvPr/>
        </p:nvSpPr>
        <p:spPr>
          <a:xfrm>
            <a:off x="3634740" y="3813048"/>
            <a:ext cx="20802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ADAL → MSAL; B2C bearer-token validation rebuilt on ASP.NET Core</a:t>
            </a:r>
            <a:endParaRPr lang="en-US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B3CA926A-D251-CEDD-212A-4FBBFC26C1AA}"/>
              </a:ext>
            </a:extLst>
          </p:cNvPr>
          <p:cNvSpPr/>
          <p:nvPr/>
        </p:nvSpPr>
        <p:spPr>
          <a:xfrm>
            <a:off x="6217920" y="2240280"/>
            <a:ext cx="2628900" cy="2606040"/>
          </a:xfrm>
          <a:prstGeom prst="roundRect">
            <a:avLst>
              <a:gd name="adj" fmla="val 2807"/>
            </a:avLst>
          </a:prstGeom>
          <a:solidFill>
            <a:srgbClr val="E7F0FE"/>
          </a:solidFill>
          <a:ln w="12700">
            <a:solidFill>
              <a:srgbClr val="E7F0FE"/>
            </a:solidFill>
            <a:prstDash val="solid"/>
          </a:ln>
        </p:spPr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01304C0-B882-1977-22DB-ED1EE67BF018}"/>
              </a:ext>
            </a:extLst>
          </p:cNvPr>
          <p:cNvSpPr txBox="1"/>
          <p:nvPr/>
        </p:nvSpPr>
        <p:spPr>
          <a:xfrm>
            <a:off x="6492240" y="3781946"/>
            <a:ext cx="2152831" cy="899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Azure Key Vault + Managed Identity (</a:t>
            </a:r>
            <a:r>
              <a:rPr lang="en-US" sz="1250" err="1">
                <a:solidFill>
                  <a:srgbClr val="5B6B82"/>
                </a:solidFill>
                <a:ea typeface="+mn-lt"/>
                <a:cs typeface="+mn-lt"/>
              </a:rPr>
              <a:t>DefaultAzureCredential</a:t>
            </a:r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)</a:t>
            </a:r>
            <a:endParaRPr lang="en-US"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4011A11C-40A3-770B-5EB3-9D0649452EF3}"/>
              </a:ext>
            </a:extLst>
          </p:cNvPr>
          <p:cNvSpPr/>
          <p:nvPr/>
        </p:nvSpPr>
        <p:spPr>
          <a:xfrm>
            <a:off x="9075420" y="2240280"/>
            <a:ext cx="2628900" cy="2606040"/>
          </a:xfrm>
          <a:prstGeom prst="roundRect">
            <a:avLst>
              <a:gd name="adj" fmla="val 2807"/>
            </a:avLst>
          </a:prstGeom>
          <a:solidFill>
            <a:srgbClr val="E7F0FE"/>
          </a:solidFill>
          <a:ln w="12700">
            <a:solidFill>
              <a:srgbClr val="E7F0FE"/>
            </a:solidFill>
            <a:prstDash val="solid"/>
          </a:ln>
        </p:spPr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5396DCC5-882A-8C80-2D08-CD4D7810A7D6}"/>
              </a:ext>
            </a:extLst>
          </p:cNvPr>
          <p:cNvSpPr txBox="1"/>
          <p:nvPr/>
        </p:nvSpPr>
        <p:spPr>
          <a:xfrm>
            <a:off x="9349740" y="3813048"/>
            <a:ext cx="20802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>
                <a:solidFill>
                  <a:srgbClr val="5B6B82"/>
                </a:solidFill>
                <a:ea typeface="+mn-lt"/>
                <a:cs typeface="+mn-lt"/>
              </a:rPr>
              <a:t>dependency &amp; vulnerability scanning in the workflow</a:t>
            </a:r>
            <a:endParaRPr lang="en-US"/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B2AB475E-E99C-63D6-4F4F-81696882AAB3}"/>
              </a:ext>
            </a:extLst>
          </p:cNvPr>
          <p:cNvSpPr/>
          <p:nvPr/>
        </p:nvSpPr>
        <p:spPr>
          <a:xfrm>
            <a:off x="502920" y="5074920"/>
            <a:ext cx="11201400" cy="1097280"/>
          </a:xfrm>
          <a:prstGeom prst="roundRect">
            <a:avLst>
              <a:gd name="adj" fmla="val 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2B8D2C73-2005-E04A-8124-31CB25407888}"/>
              </a:ext>
            </a:extLst>
          </p:cNvPr>
          <p:cNvSpPr/>
          <p:nvPr/>
        </p:nvSpPr>
        <p:spPr>
          <a:xfrm>
            <a:off x="868680" y="5340096"/>
            <a:ext cx="566928" cy="566928"/>
          </a:xfrm>
          <a:prstGeom prst="ellipse">
            <a:avLst/>
          </a:prstGeom>
          <a:solidFill>
            <a:srgbClr val="0C78F0"/>
          </a:solidFill>
          <a:ln w="12700">
            <a:solidFill>
              <a:srgbClr val="0C78F0"/>
            </a:solidFill>
            <a:prstDash val="solid"/>
          </a:ln>
        </p:spPr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F8386965-47CE-1CD4-688F-5811EC9F068F}"/>
              </a:ext>
            </a:extLst>
          </p:cNvPr>
          <p:cNvSpPr txBox="1"/>
          <p:nvPr/>
        </p:nvSpPr>
        <p:spPr>
          <a:xfrm>
            <a:off x="1644987" y="5558619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>
                <a:solidFill>
                  <a:srgbClr val="CBD8EE"/>
                </a:solidFill>
                <a:ea typeface="+mn-lt"/>
                <a:cs typeface="+mn-lt"/>
              </a:rPr>
              <a:t>We didn't just port the code — we removed deprecated auth libraries, eliminated in-code secrets, and closed a dependency vulnerability</a:t>
            </a:r>
            <a:endParaRPr lang="en-US"/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9E7D2CEB-FCFC-AAC2-7F14-4304FA7999B3}"/>
              </a:ext>
            </a:extLst>
          </p:cNvPr>
          <p:cNvSpPr txBox="1"/>
          <p:nvPr/>
        </p:nvSpPr>
        <p:spPr>
          <a:xfrm>
            <a:off x="502920" y="105156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A1628"/>
                </a:solidFill>
                <a:ea typeface="+mn-lt"/>
                <a:cs typeface="+mn-lt"/>
              </a:rPr>
              <a:t>Security by Design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B683D939-881B-8CF3-8CD4-9C4CED4C33B9}"/>
              </a:ext>
            </a:extLst>
          </p:cNvPr>
          <p:cNvSpPr txBox="1"/>
          <p:nvPr/>
        </p:nvSpPr>
        <p:spPr>
          <a:xfrm>
            <a:off x="502920" y="1641079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B6B82"/>
                </a:solidFill>
                <a:ea typeface="+mn-lt"/>
                <a:cs typeface="+mn-lt"/>
              </a:rPr>
              <a:t>Modernization hardened the security posture</a:t>
            </a:r>
            <a:endParaRPr 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1E1B2322-D16D-486A-476D-F0268A80AFED}"/>
              </a:ext>
            </a:extLst>
          </p:cNvPr>
          <p:cNvSpPr txBox="1"/>
          <p:nvPr/>
        </p:nvSpPr>
        <p:spPr>
          <a:xfrm>
            <a:off x="3519403" y="2786224"/>
            <a:ext cx="2339443" cy="318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Legacy auth retired</a:t>
            </a:r>
            <a:endParaRPr lang="en-US" b="1">
              <a:solidFill>
                <a:schemeClr val="accent1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23BC5D8E-A2C3-919D-CD0F-A693C0A90C57}"/>
              </a:ext>
            </a:extLst>
          </p:cNvPr>
          <p:cNvSpPr txBox="1"/>
          <p:nvPr/>
        </p:nvSpPr>
        <p:spPr>
          <a:xfrm>
            <a:off x="6365240" y="2786224"/>
            <a:ext cx="2339443" cy="318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No secrets in code</a:t>
            </a:r>
            <a:endParaRPr lang="en-US" b="1">
              <a:solidFill>
                <a:schemeClr val="accent1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DB6370A-88A7-5A82-7673-EC134A0FFBEC}"/>
              </a:ext>
            </a:extLst>
          </p:cNvPr>
          <p:cNvSpPr txBox="1"/>
          <p:nvPr/>
        </p:nvSpPr>
        <p:spPr>
          <a:xfrm>
            <a:off x="9221444" y="2786224"/>
            <a:ext cx="2339443" cy="318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Security review as a gate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16876B9F-1C00-3BD4-6B78-ED9D734DB5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11" y="5454780"/>
            <a:ext cx="302728" cy="3338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208892-DF91-E6A4-E156-51096B698808}"/>
              </a:ext>
            </a:extLst>
          </p:cNvPr>
          <p:cNvSpPr txBox="1"/>
          <p:nvPr/>
        </p:nvSpPr>
        <p:spPr>
          <a:xfrm>
            <a:off x="502815" y="6375918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Techiosoft</a:t>
            </a:r>
            <a:r>
              <a:rPr lang="en-US" sz="1600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 Systems Inc.</a:t>
            </a:r>
          </a:p>
        </p:txBody>
      </p:sp>
    </p:spTree>
    <p:extLst>
      <p:ext uri="{BB962C8B-B14F-4D97-AF65-F5344CB8AC3E}">
        <p14:creationId xmlns:p14="http://schemas.microsoft.com/office/powerpoint/2010/main" val="3529285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C81B9-FDB5-CFF7-7021-8B77EC8C8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5FD462-D2A0-5BE4-87C4-D41A98979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53" y="239889"/>
            <a:ext cx="3013428" cy="575734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9B7D077D-A639-63CD-1062-012454D39199}"/>
              </a:ext>
            </a:extLst>
          </p:cNvPr>
          <p:cNvSpPr txBox="1"/>
          <p:nvPr/>
        </p:nvSpPr>
        <p:spPr>
          <a:xfrm>
            <a:off x="502920" y="105156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A1628"/>
                </a:solidFill>
                <a:ea typeface="+mn-lt"/>
                <a:cs typeface="+mn-lt"/>
              </a:rPr>
              <a:t>Progress &amp; What's Next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3E976F3-CD40-F2E8-7811-84D046438F08}"/>
              </a:ext>
            </a:extLst>
          </p:cNvPr>
          <p:cNvSpPr txBox="1"/>
          <p:nvPr/>
        </p:nvSpPr>
        <p:spPr>
          <a:xfrm>
            <a:off x="502920" y="1627632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B6B82"/>
                </a:solidFill>
                <a:ea typeface="+mn-lt"/>
                <a:cs typeface="+mn-lt"/>
              </a:rPr>
              <a:t>Application code is feature-complete; deployment &amp; sign-off remain</a:t>
            </a:r>
            <a:endParaRPr lang="en-US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4039ABB8-66D8-2581-B397-A8F1BCC9FFAB}"/>
              </a:ext>
            </a:extLst>
          </p:cNvPr>
          <p:cNvSpPr/>
          <p:nvPr/>
        </p:nvSpPr>
        <p:spPr>
          <a:xfrm>
            <a:off x="502920" y="2331720"/>
            <a:ext cx="3550615" cy="3520440"/>
          </a:xfrm>
          <a:prstGeom prst="roundRect">
            <a:avLst>
              <a:gd name="adj" fmla="val 2597"/>
            </a:avLst>
          </a:prstGeom>
          <a:solidFill>
            <a:srgbClr val="E7F0FE"/>
          </a:solidFill>
          <a:ln w="12700">
            <a:solidFill>
              <a:srgbClr val="E7F0FE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36E9A172-13A3-2BF8-ADDC-31753E8C8B23}"/>
              </a:ext>
            </a:extLst>
          </p:cNvPr>
          <p:cNvSpPr/>
          <p:nvPr/>
        </p:nvSpPr>
        <p:spPr>
          <a:xfrm>
            <a:off x="868680" y="2697480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95A9A0E8-FE7F-DAB9-13CB-3C7578A2367B}"/>
              </a:ext>
            </a:extLst>
          </p:cNvPr>
          <p:cNvSpPr txBox="1"/>
          <p:nvPr/>
        </p:nvSpPr>
        <p:spPr>
          <a:xfrm>
            <a:off x="868680" y="3703320"/>
            <a:ext cx="2819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>
                <a:solidFill>
                  <a:srgbClr val="0A1628"/>
                </a:solidFill>
                <a:ea typeface="+mn-lt"/>
                <a:cs typeface="+mn-lt"/>
              </a:rPr>
              <a:t>Done &amp; merged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B9D1154E-7B32-4E2A-B363-AC861ACC28F9}"/>
              </a:ext>
            </a:extLst>
          </p:cNvPr>
          <p:cNvSpPr txBox="1"/>
          <p:nvPr/>
        </p:nvSpPr>
        <p:spPr>
          <a:xfrm>
            <a:off x="868680" y="4206240"/>
            <a:ext cx="28190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50">
                <a:solidFill>
                  <a:srgbClr val="5B6B82"/>
                </a:solidFill>
                <a:ea typeface="+mn-lt"/>
                <a:cs typeface="+mn-lt"/>
              </a:rPr>
              <a:t>modern host + 20 controllers + DI, EF Core data layer, auth (S13), observability</a:t>
            </a:r>
            <a:endParaRPr lang="en-US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A748FFDA-D7CD-FE83-F925-BBA86C6CEC10}"/>
              </a:ext>
            </a:extLst>
          </p:cNvPr>
          <p:cNvSpPr/>
          <p:nvPr/>
        </p:nvSpPr>
        <p:spPr>
          <a:xfrm>
            <a:off x="4327855" y="2331720"/>
            <a:ext cx="3550615" cy="3520440"/>
          </a:xfrm>
          <a:prstGeom prst="roundRect">
            <a:avLst>
              <a:gd name="adj" fmla="val 2597"/>
            </a:avLst>
          </a:prstGeom>
          <a:solidFill>
            <a:srgbClr val="E7F0FE"/>
          </a:solidFill>
          <a:ln w="12700">
            <a:solidFill>
              <a:srgbClr val="E7F0FE"/>
            </a:solidFill>
            <a:prstDash val="solid"/>
          </a:ln>
        </p:spPr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D2431B02-B869-48E9-E863-410F64192AE6}"/>
              </a:ext>
            </a:extLst>
          </p:cNvPr>
          <p:cNvSpPr/>
          <p:nvPr/>
        </p:nvSpPr>
        <p:spPr>
          <a:xfrm>
            <a:off x="4693615" y="2697480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9664C0B-A509-2BED-5A7B-886DE7EB7B53}"/>
              </a:ext>
            </a:extLst>
          </p:cNvPr>
          <p:cNvSpPr txBox="1"/>
          <p:nvPr/>
        </p:nvSpPr>
        <p:spPr>
          <a:xfrm>
            <a:off x="4693615" y="3703320"/>
            <a:ext cx="2819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Parity Testing</a:t>
            </a:r>
            <a:endParaRPr 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78832D6B-2E38-9924-C20E-306E0A020942}"/>
              </a:ext>
            </a:extLst>
          </p:cNvPr>
          <p:cNvSpPr txBox="1"/>
          <p:nvPr/>
        </p:nvSpPr>
        <p:spPr>
          <a:xfrm>
            <a:off x="4693615" y="4206240"/>
            <a:ext cx="28190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50">
                <a:solidFill>
                  <a:srgbClr val="5B6B82"/>
                </a:solidFill>
                <a:ea typeface="+mn-lt"/>
                <a:cs typeface="+mn-lt"/>
              </a:rPr>
              <a:t>Modernized app runs today against the real Dev database, returns real data</a:t>
            </a:r>
            <a:endParaRPr lang="en-US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C52DE1BC-6B32-0AF8-96DF-B4BF079C1AF4}"/>
              </a:ext>
            </a:extLst>
          </p:cNvPr>
          <p:cNvSpPr/>
          <p:nvPr/>
        </p:nvSpPr>
        <p:spPr>
          <a:xfrm>
            <a:off x="8152790" y="2331720"/>
            <a:ext cx="3550615" cy="3520440"/>
          </a:xfrm>
          <a:prstGeom prst="roundRect">
            <a:avLst>
              <a:gd name="adj" fmla="val 259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03B55332-B739-1CD6-8EA7-2489A2046EBA}"/>
              </a:ext>
            </a:extLst>
          </p:cNvPr>
          <p:cNvSpPr/>
          <p:nvPr/>
        </p:nvSpPr>
        <p:spPr>
          <a:xfrm>
            <a:off x="8518550" y="2697480"/>
            <a:ext cx="749808" cy="749808"/>
          </a:xfrm>
          <a:prstGeom prst="ellipse">
            <a:avLst/>
          </a:prstGeom>
          <a:solidFill>
            <a:srgbClr val="0C78F0"/>
          </a:solidFill>
          <a:ln w="12700">
            <a:solidFill>
              <a:srgbClr val="0C78F0"/>
            </a:solidFill>
            <a:prstDash val="solid"/>
          </a:ln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0A726C43-1484-0EAE-7B88-7B39920BE0DF}"/>
              </a:ext>
            </a:extLst>
          </p:cNvPr>
          <p:cNvSpPr txBox="1"/>
          <p:nvPr/>
        </p:nvSpPr>
        <p:spPr>
          <a:xfrm>
            <a:off x="8518550" y="3703320"/>
            <a:ext cx="2819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>
                <a:solidFill>
                  <a:srgbClr val="FFFFFF"/>
                </a:solidFill>
                <a:ea typeface="+mn-lt"/>
                <a:cs typeface="+mn-lt"/>
              </a:rPr>
              <a:t>Human-gated next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B2513667-4557-F310-23C4-1A4DFF1F924B}"/>
              </a:ext>
            </a:extLst>
          </p:cNvPr>
          <p:cNvSpPr txBox="1"/>
          <p:nvPr/>
        </p:nvSpPr>
        <p:spPr>
          <a:xfrm>
            <a:off x="8518550" y="4206240"/>
            <a:ext cx="28190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50">
                <a:solidFill>
                  <a:srgbClr val="CBD8EE"/>
                </a:solidFill>
                <a:ea typeface="+mn-lt"/>
                <a:cs typeface="+mn-lt"/>
              </a:rPr>
              <a:t>data-parity sign-off · live-token auth validation · Azure deploy +  CI/CD </a:t>
            </a:r>
            <a:r>
              <a:rPr lang="en-US" sz="1500">
                <a:solidFill>
                  <a:srgbClr val="CBD8EE"/>
                </a:solidFill>
                <a:ea typeface="+mn-lt"/>
                <a:cs typeface="+mn-lt"/>
              </a:rPr>
              <a:t>·  Security scan</a:t>
            </a:r>
            <a:endParaRPr lang="en-US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DCD9F589-0355-037A-1C10-7BE32D7CF065}"/>
              </a:ext>
            </a:extLst>
          </p:cNvPr>
          <p:cNvSpPr txBox="1"/>
          <p:nvPr/>
        </p:nvSpPr>
        <p:spPr>
          <a:xfrm>
            <a:off x="8518550" y="5303520"/>
            <a:ext cx="2011680" cy="34747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kern="0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TARGET: 2nd week OCT'26</a:t>
            </a:r>
            <a:endParaRPr lang="en-US" sz="1050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38F8434A-F8E1-A0B5-8501-A268029400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760" y="2696464"/>
            <a:ext cx="741680" cy="74168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331F8910-B360-17BC-B3AF-0FB189DD64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920" y="2696351"/>
            <a:ext cx="751840" cy="73152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A17EEED8-E4ED-4E3E-FD54-E64DA3C5D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4080" y="2687320"/>
            <a:ext cx="751840" cy="731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CCA966-AB78-43DC-EF16-931510323B6B}"/>
              </a:ext>
            </a:extLst>
          </p:cNvPr>
          <p:cNvSpPr txBox="1"/>
          <p:nvPr/>
        </p:nvSpPr>
        <p:spPr>
          <a:xfrm>
            <a:off x="502815" y="6375918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Techiosoft</a:t>
            </a:r>
            <a:r>
              <a:rPr lang="en-US" sz="1600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 Systems Inc.</a:t>
            </a:r>
          </a:p>
        </p:txBody>
      </p:sp>
    </p:spTree>
    <p:extLst>
      <p:ext uri="{BB962C8B-B14F-4D97-AF65-F5344CB8AC3E}">
        <p14:creationId xmlns:p14="http://schemas.microsoft.com/office/powerpoint/2010/main" val="2927242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5FD462-D2A0-5BE4-87C4-D41A98979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53" y="239889"/>
            <a:ext cx="3013428" cy="575734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9B7D077D-A639-63CD-1062-012454D39199}"/>
              </a:ext>
            </a:extLst>
          </p:cNvPr>
          <p:cNvSpPr txBox="1"/>
          <p:nvPr/>
        </p:nvSpPr>
        <p:spPr>
          <a:xfrm>
            <a:off x="502920" y="1051560"/>
            <a:ext cx="650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A1628"/>
                </a:solidFill>
                <a:ea typeface="+mn-lt"/>
                <a:cs typeface="+mn-lt"/>
              </a:rPr>
              <a:t>Project Timeline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3E976F3-CD40-F2E8-7811-84D046438F08}"/>
              </a:ext>
            </a:extLst>
          </p:cNvPr>
          <p:cNvSpPr txBox="1"/>
          <p:nvPr/>
        </p:nvSpPr>
        <p:spPr>
          <a:xfrm>
            <a:off x="502920" y="1627632"/>
            <a:ext cx="70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B6B82"/>
                </a:solidFill>
                <a:ea typeface="+mn-lt"/>
                <a:cs typeface="+mn-lt"/>
              </a:rPr>
              <a:t>Ahead of plan. Phases 0–3 complete; Phases 4–6 now targeted for Oct 10.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CCA966-AB78-43DC-EF16-931510323B6B}"/>
              </a:ext>
            </a:extLst>
          </p:cNvPr>
          <p:cNvSpPr txBox="1"/>
          <p:nvPr/>
        </p:nvSpPr>
        <p:spPr>
          <a:xfrm>
            <a:off x="502815" y="6375918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Techiosoft</a:t>
            </a:r>
            <a:r>
              <a:rPr lang="en-US" sz="1600">
                <a:solidFill>
                  <a:schemeClr val="bg1">
                    <a:lumMod val="76000"/>
                  </a:schemeClr>
                </a:solidFill>
                <a:latin typeface="Sitka Text"/>
                <a:ea typeface="Cambria"/>
                <a:cs typeface="Calibri"/>
              </a:rPr>
              <a:t> Systems Inc.</a:t>
            </a:r>
          </a:p>
        </p:txBody>
      </p:sp>
      <p:sp>
        <p:nvSpPr>
          <p:cNvPr id="8" name="Band 1"/>
          <p:cNvSpPr/>
          <p:nvPr/>
        </p:nvSpPr>
        <p:spPr>
          <a:xfrm>
            <a:off x="502920" y="2440000"/>
            <a:ext cx="11201400" cy="262000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and 3"/>
          <p:cNvSpPr/>
          <p:nvPr/>
        </p:nvSpPr>
        <p:spPr>
          <a:xfrm>
            <a:off x="502920" y="2964000"/>
            <a:ext cx="11201400" cy="262000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and 5"/>
          <p:cNvSpPr/>
          <p:nvPr/>
        </p:nvSpPr>
        <p:spPr>
          <a:xfrm>
            <a:off x="502920" y="3488000"/>
            <a:ext cx="11201400" cy="262000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and 7"/>
          <p:cNvSpPr/>
          <p:nvPr/>
        </p:nvSpPr>
        <p:spPr>
          <a:xfrm>
            <a:off x="502920" y="4012000"/>
            <a:ext cx="11201400" cy="262000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and 9"/>
          <p:cNvSpPr/>
          <p:nvPr/>
        </p:nvSpPr>
        <p:spPr>
          <a:xfrm>
            <a:off x="502920" y="4536000"/>
            <a:ext cx="11201400" cy="262000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and 11"/>
          <p:cNvSpPr/>
          <p:nvPr/>
        </p:nvSpPr>
        <p:spPr>
          <a:xfrm>
            <a:off x="502920" y="5060000"/>
            <a:ext cx="11201400" cy="262000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and 13"/>
          <p:cNvSpPr/>
          <p:nvPr/>
        </p:nvSpPr>
        <p:spPr>
          <a:xfrm>
            <a:off x="502920" y="5584000"/>
            <a:ext cx="11201400" cy="262000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Hdr Workstream"/>
          <p:cNvSpPr txBox="1"/>
          <p:nvPr/>
        </p:nvSpPr>
        <p:spPr>
          <a:xfrm>
            <a:off x="502920" y="2150000"/>
            <a:ext cx="315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5B6B82"/>
                </a:solidFill>
              </a:rPr>
              <a:t>Workstream</a:t>
            </a:r>
          </a:p>
        </p:txBody>
      </p:sp>
      <p:sp>
        <p:nvSpPr>
          <p:cNvPr id="16" name="Hdr Dates"/>
          <p:cNvSpPr txBox="1"/>
          <p:nvPr/>
        </p:nvSpPr>
        <p:spPr>
          <a:xfrm>
            <a:off x="3652920" y="2150000"/>
            <a:ext cx="115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5B6B82"/>
                </a:solidFill>
              </a:rPr>
              <a:t>Planned dates</a:t>
            </a:r>
          </a:p>
        </p:txBody>
      </p:sp>
      <p:sp>
        <p:nvSpPr>
          <p:cNvPr id="17" name="Grid 09-07"/>
          <p:cNvSpPr/>
          <p:nvPr/>
        </p:nvSpPr>
        <p:spPr>
          <a:xfrm>
            <a:off x="5082706" y="2440000"/>
            <a:ext cx="9525" cy="3406000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Week 09-07"/>
          <p:cNvSpPr txBox="1"/>
          <p:nvPr/>
        </p:nvSpPr>
        <p:spPr>
          <a:xfrm>
            <a:off x="5122706" y="2150000"/>
            <a:ext cx="60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B6B82"/>
                </a:solidFill>
              </a:rPr>
              <a:t>Sep 7</a:t>
            </a:r>
          </a:p>
        </p:txBody>
      </p:sp>
      <p:sp>
        <p:nvSpPr>
          <p:cNvPr id="19" name="Grid 09-14"/>
          <p:cNvSpPr/>
          <p:nvPr/>
        </p:nvSpPr>
        <p:spPr>
          <a:xfrm>
            <a:off x="5735541" y="2440000"/>
            <a:ext cx="9525" cy="3406000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Week 09-14"/>
          <p:cNvSpPr txBox="1"/>
          <p:nvPr/>
        </p:nvSpPr>
        <p:spPr>
          <a:xfrm>
            <a:off x="5775541" y="2150000"/>
            <a:ext cx="60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B6B82"/>
                </a:solidFill>
              </a:rPr>
              <a:t>Sep 14</a:t>
            </a:r>
          </a:p>
        </p:txBody>
      </p:sp>
      <p:sp>
        <p:nvSpPr>
          <p:cNvPr id="21" name="Grid 09-21"/>
          <p:cNvSpPr/>
          <p:nvPr/>
        </p:nvSpPr>
        <p:spPr>
          <a:xfrm>
            <a:off x="6388376" y="2440000"/>
            <a:ext cx="9525" cy="3406000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eek 09-21"/>
          <p:cNvSpPr txBox="1"/>
          <p:nvPr/>
        </p:nvSpPr>
        <p:spPr>
          <a:xfrm>
            <a:off x="6428376" y="2150000"/>
            <a:ext cx="60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B6B82"/>
                </a:solidFill>
              </a:rPr>
              <a:t>Sep 21</a:t>
            </a:r>
          </a:p>
        </p:txBody>
      </p:sp>
      <p:sp>
        <p:nvSpPr>
          <p:cNvPr id="23" name="Grid 09-28"/>
          <p:cNvSpPr/>
          <p:nvPr/>
        </p:nvSpPr>
        <p:spPr>
          <a:xfrm>
            <a:off x="7041211" y="2440000"/>
            <a:ext cx="9525" cy="3406000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Week 09-28"/>
          <p:cNvSpPr txBox="1"/>
          <p:nvPr/>
        </p:nvSpPr>
        <p:spPr>
          <a:xfrm>
            <a:off x="7081211" y="2150000"/>
            <a:ext cx="60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B6B82"/>
                </a:solidFill>
              </a:rPr>
              <a:t>Sep 28</a:t>
            </a:r>
          </a:p>
        </p:txBody>
      </p:sp>
      <p:sp>
        <p:nvSpPr>
          <p:cNvPr id="25" name="Grid 10-05"/>
          <p:cNvSpPr/>
          <p:nvPr/>
        </p:nvSpPr>
        <p:spPr>
          <a:xfrm>
            <a:off x="7694047" y="2440000"/>
            <a:ext cx="9525" cy="3406000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eek 10-05"/>
          <p:cNvSpPr txBox="1"/>
          <p:nvPr/>
        </p:nvSpPr>
        <p:spPr>
          <a:xfrm>
            <a:off x="7734047" y="2150000"/>
            <a:ext cx="60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B6B82"/>
                </a:solidFill>
              </a:rPr>
              <a:t>Oct 5</a:t>
            </a:r>
          </a:p>
        </p:txBody>
      </p:sp>
      <p:sp>
        <p:nvSpPr>
          <p:cNvPr id="27" name="Grid 10-12"/>
          <p:cNvSpPr/>
          <p:nvPr/>
        </p:nvSpPr>
        <p:spPr>
          <a:xfrm>
            <a:off x="8346882" y="2440000"/>
            <a:ext cx="9525" cy="3406000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Week 10-12"/>
          <p:cNvSpPr txBox="1"/>
          <p:nvPr/>
        </p:nvSpPr>
        <p:spPr>
          <a:xfrm>
            <a:off x="8386882" y="2150000"/>
            <a:ext cx="60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B6B82"/>
                </a:solidFill>
              </a:rPr>
              <a:t>Oct 12</a:t>
            </a:r>
          </a:p>
        </p:txBody>
      </p:sp>
      <p:sp>
        <p:nvSpPr>
          <p:cNvPr id="29" name="Grid 10-19"/>
          <p:cNvSpPr/>
          <p:nvPr/>
        </p:nvSpPr>
        <p:spPr>
          <a:xfrm>
            <a:off x="8999717" y="2440000"/>
            <a:ext cx="9525" cy="3406000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eek 10-19"/>
          <p:cNvSpPr txBox="1"/>
          <p:nvPr/>
        </p:nvSpPr>
        <p:spPr>
          <a:xfrm>
            <a:off x="9039717" y="2150000"/>
            <a:ext cx="60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B6B82"/>
                </a:solidFill>
              </a:rPr>
              <a:t>Oct 19</a:t>
            </a:r>
          </a:p>
        </p:txBody>
      </p:sp>
      <p:sp>
        <p:nvSpPr>
          <p:cNvPr id="31" name="Grid 10-26"/>
          <p:cNvSpPr/>
          <p:nvPr/>
        </p:nvSpPr>
        <p:spPr>
          <a:xfrm>
            <a:off x="9652552" y="2440000"/>
            <a:ext cx="9525" cy="3406000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eek 10-26"/>
          <p:cNvSpPr txBox="1"/>
          <p:nvPr/>
        </p:nvSpPr>
        <p:spPr>
          <a:xfrm>
            <a:off x="9692552" y="2150000"/>
            <a:ext cx="60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B6B82"/>
                </a:solidFill>
              </a:rPr>
              <a:t>Oct 26</a:t>
            </a:r>
          </a:p>
        </p:txBody>
      </p:sp>
      <p:sp>
        <p:nvSpPr>
          <p:cNvPr id="33" name="Grid 11-02"/>
          <p:cNvSpPr/>
          <p:nvPr/>
        </p:nvSpPr>
        <p:spPr>
          <a:xfrm>
            <a:off x="10305387" y="2440000"/>
            <a:ext cx="9525" cy="3406000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eek 11-02"/>
          <p:cNvSpPr txBox="1"/>
          <p:nvPr/>
        </p:nvSpPr>
        <p:spPr>
          <a:xfrm>
            <a:off x="10345387" y="2150000"/>
            <a:ext cx="60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B6B82"/>
                </a:solidFill>
              </a:rPr>
              <a:t>Nov 2</a:t>
            </a:r>
          </a:p>
        </p:txBody>
      </p:sp>
      <p:sp>
        <p:nvSpPr>
          <p:cNvPr id="35" name="Grid 11-09"/>
          <p:cNvSpPr/>
          <p:nvPr/>
        </p:nvSpPr>
        <p:spPr>
          <a:xfrm>
            <a:off x="10958222" y="2440000"/>
            <a:ext cx="9525" cy="3406000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eek 11-09"/>
          <p:cNvSpPr txBox="1"/>
          <p:nvPr/>
        </p:nvSpPr>
        <p:spPr>
          <a:xfrm>
            <a:off x="10998222" y="2150000"/>
            <a:ext cx="60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B6B82"/>
                </a:solidFill>
              </a:rPr>
              <a:t>Nov 9</a:t>
            </a:r>
          </a:p>
        </p:txBody>
      </p:sp>
      <p:sp>
        <p:nvSpPr>
          <p:cNvPr id="37" name="Label 1"/>
          <p:cNvSpPr txBox="1"/>
          <p:nvPr/>
        </p:nvSpPr>
        <p:spPr>
          <a:xfrm>
            <a:off x="592920" y="2440000"/>
            <a:ext cx="306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</a:rPr>
              <a:t>Kick-off &amp; finalized plan</a:t>
            </a:r>
          </a:p>
        </p:txBody>
      </p:sp>
      <p:sp>
        <p:nvSpPr>
          <p:cNvPr id="38" name="Dates 1"/>
          <p:cNvSpPr txBox="1"/>
          <p:nvPr/>
        </p:nvSpPr>
        <p:spPr>
          <a:xfrm>
            <a:off x="3652920" y="2440000"/>
            <a:ext cx="115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B6B82"/>
                </a:solidFill>
              </a:rPr>
              <a:t>Sep 4 – 9</a:t>
            </a:r>
          </a:p>
        </p:txBody>
      </p:sp>
      <p:sp>
        <p:nvSpPr>
          <p:cNvPr id="39" name="Bar 1"/>
          <p:cNvSpPr/>
          <p:nvPr/>
        </p:nvSpPr>
        <p:spPr>
          <a:xfrm>
            <a:off x="4802920" y="2496000"/>
            <a:ext cx="559572" cy="150000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Label 2"/>
          <p:cNvSpPr txBox="1"/>
          <p:nvPr/>
        </p:nvSpPr>
        <p:spPr>
          <a:xfrm>
            <a:off x="592920" y="2702000"/>
            <a:ext cx="306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</a:rPr>
              <a:t>Phase 0 — Prune &amp; migrate dependencies</a:t>
            </a:r>
          </a:p>
        </p:txBody>
      </p:sp>
      <p:sp>
        <p:nvSpPr>
          <p:cNvPr id="41" name="Dates 2"/>
          <p:cNvSpPr txBox="1"/>
          <p:nvPr/>
        </p:nvSpPr>
        <p:spPr>
          <a:xfrm>
            <a:off x="3652920" y="2702000"/>
            <a:ext cx="115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B6B82"/>
                </a:solidFill>
              </a:rPr>
              <a:t>Sep 10 – 22</a:t>
            </a:r>
          </a:p>
        </p:txBody>
      </p:sp>
      <p:sp>
        <p:nvSpPr>
          <p:cNvPr id="42" name="Bar 2"/>
          <p:cNvSpPr/>
          <p:nvPr/>
        </p:nvSpPr>
        <p:spPr>
          <a:xfrm>
            <a:off x="5362492" y="2758000"/>
            <a:ext cx="1212408" cy="150000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Label 3"/>
          <p:cNvSpPr txBox="1"/>
          <p:nvPr/>
        </p:nvSpPr>
        <p:spPr>
          <a:xfrm>
            <a:off x="592920" y="2964000"/>
            <a:ext cx="306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</a:rPr>
              <a:t>Phase 1 — Foundation &amp; configuration</a:t>
            </a:r>
          </a:p>
        </p:txBody>
      </p:sp>
      <p:sp>
        <p:nvSpPr>
          <p:cNvPr id="44" name="Dates 3"/>
          <p:cNvSpPr txBox="1"/>
          <p:nvPr/>
        </p:nvSpPr>
        <p:spPr>
          <a:xfrm>
            <a:off x="3652920" y="2964000"/>
            <a:ext cx="115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B6B82"/>
                </a:solidFill>
              </a:rPr>
              <a:t>Sep 10 – 22</a:t>
            </a:r>
          </a:p>
        </p:txBody>
      </p:sp>
      <p:sp>
        <p:nvSpPr>
          <p:cNvPr id="45" name="Bar 3"/>
          <p:cNvSpPr/>
          <p:nvPr/>
        </p:nvSpPr>
        <p:spPr>
          <a:xfrm>
            <a:off x="5362492" y="3020000"/>
            <a:ext cx="1212408" cy="150000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Label 4"/>
          <p:cNvSpPr txBox="1"/>
          <p:nvPr/>
        </p:nvSpPr>
        <p:spPr>
          <a:xfrm>
            <a:off x="592920" y="3226000"/>
            <a:ext cx="306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</a:rPr>
              <a:t>Phase 2 — Host &amp; framework</a:t>
            </a:r>
          </a:p>
        </p:txBody>
      </p:sp>
      <p:sp>
        <p:nvSpPr>
          <p:cNvPr id="47" name="Dates 4"/>
          <p:cNvSpPr txBox="1"/>
          <p:nvPr/>
        </p:nvSpPr>
        <p:spPr>
          <a:xfrm>
            <a:off x="3652920" y="3226000"/>
            <a:ext cx="115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B6B82"/>
                </a:solidFill>
              </a:rPr>
              <a:t>Sep 23 – 29</a:t>
            </a:r>
          </a:p>
        </p:txBody>
      </p:sp>
      <p:sp>
        <p:nvSpPr>
          <p:cNvPr id="48" name="Bar 4"/>
          <p:cNvSpPr/>
          <p:nvPr/>
        </p:nvSpPr>
        <p:spPr>
          <a:xfrm>
            <a:off x="6574901" y="3282000"/>
            <a:ext cx="652835" cy="150000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Label 5"/>
          <p:cNvSpPr txBox="1"/>
          <p:nvPr/>
        </p:nvSpPr>
        <p:spPr>
          <a:xfrm>
            <a:off x="592920" y="3488000"/>
            <a:ext cx="306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</a:rPr>
              <a:t>Demo — Phases 0, 1, 2</a:t>
            </a:r>
          </a:p>
        </p:txBody>
      </p:sp>
      <p:sp>
        <p:nvSpPr>
          <p:cNvPr id="50" name="Dates 5"/>
          <p:cNvSpPr txBox="1"/>
          <p:nvPr/>
        </p:nvSpPr>
        <p:spPr>
          <a:xfrm>
            <a:off x="3652920" y="3488000"/>
            <a:ext cx="115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B6B82"/>
                </a:solidFill>
              </a:rPr>
              <a:t>Oct 1</a:t>
            </a:r>
          </a:p>
        </p:txBody>
      </p:sp>
      <p:sp>
        <p:nvSpPr>
          <p:cNvPr id="51" name="Milestone 5"/>
          <p:cNvSpPr/>
          <p:nvPr/>
        </p:nvSpPr>
        <p:spPr>
          <a:xfrm>
            <a:off x="7267629" y="3519000"/>
            <a:ext cx="200000" cy="200000"/>
          </a:xfrm>
          <a:prstGeom prst="diamond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Label 6"/>
          <p:cNvSpPr txBox="1"/>
          <p:nvPr/>
        </p:nvSpPr>
        <p:spPr>
          <a:xfrm>
            <a:off x="592920" y="3750000"/>
            <a:ext cx="306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</a:rPr>
              <a:t>Phase 3 — Data &amp; identity</a:t>
            </a:r>
          </a:p>
        </p:txBody>
      </p:sp>
      <p:sp>
        <p:nvSpPr>
          <p:cNvPr id="53" name="Dates 6"/>
          <p:cNvSpPr txBox="1"/>
          <p:nvPr/>
        </p:nvSpPr>
        <p:spPr>
          <a:xfrm>
            <a:off x="3652920" y="3750000"/>
            <a:ext cx="115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B6B82"/>
                </a:solidFill>
              </a:rPr>
              <a:t>Oct 2 – 7</a:t>
            </a:r>
          </a:p>
        </p:txBody>
      </p:sp>
      <p:sp>
        <p:nvSpPr>
          <p:cNvPr id="54" name="Bar 6"/>
          <p:cNvSpPr/>
          <p:nvPr/>
        </p:nvSpPr>
        <p:spPr>
          <a:xfrm>
            <a:off x="7414260" y="3806000"/>
            <a:ext cx="559572" cy="150000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Label 7"/>
          <p:cNvSpPr txBox="1"/>
          <p:nvPr/>
        </p:nvSpPr>
        <p:spPr>
          <a:xfrm>
            <a:off x="592920" y="4012000"/>
            <a:ext cx="306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</a:rPr>
              <a:t>Demo — Phase 3</a:t>
            </a:r>
          </a:p>
        </p:txBody>
      </p:sp>
      <p:sp>
        <p:nvSpPr>
          <p:cNvPr id="56" name="Dates 7"/>
          <p:cNvSpPr txBox="1"/>
          <p:nvPr/>
        </p:nvSpPr>
        <p:spPr>
          <a:xfrm>
            <a:off x="3652920" y="4012000"/>
            <a:ext cx="115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B6B82"/>
                </a:solidFill>
              </a:rPr>
              <a:t>Oct 8</a:t>
            </a:r>
          </a:p>
        </p:txBody>
      </p:sp>
      <p:sp>
        <p:nvSpPr>
          <p:cNvPr id="57" name="Milestone 7"/>
          <p:cNvSpPr/>
          <p:nvPr/>
        </p:nvSpPr>
        <p:spPr>
          <a:xfrm>
            <a:off x="7920464" y="4043000"/>
            <a:ext cx="200000" cy="200000"/>
          </a:xfrm>
          <a:prstGeom prst="diamond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Label 8"/>
          <p:cNvSpPr txBox="1"/>
          <p:nvPr/>
        </p:nvSpPr>
        <p:spPr>
          <a:xfrm>
            <a:off x="592920" y="4274000"/>
            <a:ext cx="306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</a:rPr>
              <a:t>Phase 4 — Observability &amp; optimization</a:t>
            </a:r>
          </a:p>
        </p:txBody>
      </p:sp>
      <p:sp>
        <p:nvSpPr>
          <p:cNvPr id="59" name="Dates 8"/>
          <p:cNvSpPr txBox="1"/>
          <p:nvPr/>
        </p:nvSpPr>
        <p:spPr>
          <a:xfrm>
            <a:off x="3652920" y="4274000"/>
            <a:ext cx="115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B6B82"/>
                </a:solidFill>
              </a:rPr>
              <a:t>Oct 8 – 15</a:t>
            </a:r>
          </a:p>
        </p:txBody>
      </p:sp>
      <p:sp>
        <p:nvSpPr>
          <p:cNvPr id="60" name="Bar 8"/>
          <p:cNvSpPr/>
          <p:nvPr/>
        </p:nvSpPr>
        <p:spPr>
          <a:xfrm>
            <a:off x="7973833" y="4330000"/>
            <a:ext cx="746097" cy="150000"/>
          </a:xfrm>
          <a:prstGeom prst="roundRect">
            <a:avLst>
              <a:gd name="adj" fmla="val 30000"/>
            </a:avLst>
          </a:prstGeom>
          <a:solidFill>
            <a:srgbClr val="0C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Label 9"/>
          <p:cNvSpPr txBox="1"/>
          <p:nvPr/>
        </p:nvSpPr>
        <p:spPr>
          <a:xfrm>
            <a:off x="592920" y="4536000"/>
            <a:ext cx="306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</a:rPr>
              <a:t>Phase 5 — Cloud deployment (CI/CD)</a:t>
            </a:r>
          </a:p>
        </p:txBody>
      </p:sp>
      <p:sp>
        <p:nvSpPr>
          <p:cNvPr id="62" name="Dates 9"/>
          <p:cNvSpPr txBox="1"/>
          <p:nvPr/>
        </p:nvSpPr>
        <p:spPr>
          <a:xfrm>
            <a:off x="3652920" y="4536000"/>
            <a:ext cx="115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B6B82"/>
                </a:solidFill>
              </a:rPr>
              <a:t>Oct 8 – 15</a:t>
            </a:r>
          </a:p>
        </p:txBody>
      </p:sp>
      <p:sp>
        <p:nvSpPr>
          <p:cNvPr id="63" name="Bar 9"/>
          <p:cNvSpPr/>
          <p:nvPr/>
        </p:nvSpPr>
        <p:spPr>
          <a:xfrm>
            <a:off x="7973833" y="4592000"/>
            <a:ext cx="746097" cy="150000"/>
          </a:xfrm>
          <a:prstGeom prst="roundRect">
            <a:avLst>
              <a:gd name="adj" fmla="val 30000"/>
            </a:avLst>
          </a:prstGeom>
          <a:solidFill>
            <a:srgbClr val="0C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Label 10"/>
          <p:cNvSpPr txBox="1"/>
          <p:nvPr/>
        </p:nvSpPr>
        <p:spPr>
          <a:xfrm>
            <a:off x="592920" y="4798000"/>
            <a:ext cx="306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</a:rPr>
              <a:t>Phase 6 — Integration &amp; internal QA</a:t>
            </a:r>
          </a:p>
        </p:txBody>
      </p:sp>
      <p:sp>
        <p:nvSpPr>
          <p:cNvPr id="65" name="Dates 10"/>
          <p:cNvSpPr txBox="1"/>
          <p:nvPr/>
        </p:nvSpPr>
        <p:spPr>
          <a:xfrm>
            <a:off x="3652920" y="4798000"/>
            <a:ext cx="115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B6B82"/>
                </a:solidFill>
              </a:rPr>
              <a:t>Oct 16 – 29</a:t>
            </a:r>
          </a:p>
        </p:txBody>
      </p:sp>
      <p:sp>
        <p:nvSpPr>
          <p:cNvPr id="66" name="Bar 10"/>
          <p:cNvSpPr/>
          <p:nvPr/>
        </p:nvSpPr>
        <p:spPr>
          <a:xfrm>
            <a:off x="8719930" y="4854000"/>
            <a:ext cx="1305670" cy="150000"/>
          </a:xfrm>
          <a:prstGeom prst="roundRect">
            <a:avLst>
              <a:gd name="adj" fmla="val 30000"/>
            </a:avLst>
          </a:prstGeom>
          <a:solidFill>
            <a:srgbClr val="0C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Label 11"/>
          <p:cNvSpPr txBox="1"/>
          <p:nvPr/>
        </p:nvSpPr>
        <p:spPr>
          <a:xfrm>
            <a:off x="592920" y="5060000"/>
            <a:ext cx="306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</a:rPr>
              <a:t>Demo — Phase 4 (final technical demo)</a:t>
            </a:r>
          </a:p>
        </p:txBody>
      </p:sp>
      <p:sp>
        <p:nvSpPr>
          <p:cNvPr id="68" name="Dates 11"/>
          <p:cNvSpPr txBox="1"/>
          <p:nvPr/>
        </p:nvSpPr>
        <p:spPr>
          <a:xfrm>
            <a:off x="3652920" y="5060000"/>
            <a:ext cx="115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B6B82"/>
                </a:solidFill>
              </a:rPr>
              <a:t>Oct 30</a:t>
            </a:r>
          </a:p>
        </p:txBody>
      </p:sp>
      <p:sp>
        <p:nvSpPr>
          <p:cNvPr id="69" name="Milestone 11"/>
          <p:cNvSpPr/>
          <p:nvPr/>
        </p:nvSpPr>
        <p:spPr>
          <a:xfrm>
            <a:off x="9972232" y="5091000"/>
            <a:ext cx="200000" cy="200000"/>
          </a:xfrm>
          <a:prstGeom prst="diamond">
            <a:avLst/>
          </a:prstGeom>
          <a:solidFill>
            <a:srgbClr val="0C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Label 12"/>
          <p:cNvSpPr txBox="1"/>
          <p:nvPr/>
        </p:nvSpPr>
        <p:spPr>
          <a:xfrm>
            <a:off x="592920" y="5322000"/>
            <a:ext cx="306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</a:rPr>
              <a:t>UAT handover (SOW completion)</a:t>
            </a:r>
          </a:p>
        </p:txBody>
      </p:sp>
      <p:sp>
        <p:nvSpPr>
          <p:cNvPr id="71" name="Dates 12"/>
          <p:cNvSpPr txBox="1"/>
          <p:nvPr/>
        </p:nvSpPr>
        <p:spPr>
          <a:xfrm>
            <a:off x="3652920" y="5322000"/>
            <a:ext cx="115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B6B82"/>
                </a:solidFill>
              </a:rPr>
              <a:t>Nov 2</a:t>
            </a:r>
          </a:p>
        </p:txBody>
      </p:sp>
      <p:sp>
        <p:nvSpPr>
          <p:cNvPr id="72" name="Milestone 12"/>
          <p:cNvSpPr/>
          <p:nvPr/>
        </p:nvSpPr>
        <p:spPr>
          <a:xfrm>
            <a:off x="10252018" y="5353000"/>
            <a:ext cx="200000" cy="200000"/>
          </a:xfrm>
          <a:prstGeom prst="diamond">
            <a:avLst/>
          </a:prstGeom>
          <a:solidFill>
            <a:srgbClr val="0C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Label 13"/>
          <p:cNvSpPr txBox="1"/>
          <p:nvPr/>
        </p:nvSpPr>
        <p:spPr>
          <a:xfrm>
            <a:off x="592920" y="5584000"/>
            <a:ext cx="306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</a:rPr>
              <a:t>Hypercare (outside SOW scope)</a:t>
            </a:r>
          </a:p>
        </p:txBody>
      </p:sp>
      <p:sp>
        <p:nvSpPr>
          <p:cNvPr id="74" name="Dates 13"/>
          <p:cNvSpPr txBox="1"/>
          <p:nvPr/>
        </p:nvSpPr>
        <p:spPr>
          <a:xfrm>
            <a:off x="3652920" y="5584000"/>
            <a:ext cx="1150000" cy="2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B6B82"/>
                </a:solidFill>
              </a:rPr>
              <a:t>Nov 2 – 16</a:t>
            </a:r>
          </a:p>
        </p:txBody>
      </p:sp>
      <p:sp>
        <p:nvSpPr>
          <p:cNvPr id="75" name="Bar 13"/>
          <p:cNvSpPr/>
          <p:nvPr/>
        </p:nvSpPr>
        <p:spPr>
          <a:xfrm>
            <a:off x="10305387" y="5640000"/>
            <a:ext cx="1398932" cy="150000"/>
          </a:xfrm>
          <a:prstGeom prst="roundRect">
            <a:avLst>
              <a:gd name="adj" fmla="val 30000"/>
            </a:avLst>
          </a:prstGeom>
          <a:solidFill>
            <a:srgbClr val="CB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502920" y="5981000"/>
            <a:ext cx="260000" cy="15000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22920" y="5956000"/>
            <a:ext cx="1300000" cy="2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B6B82"/>
                </a:solidFill>
              </a:rPr>
              <a:t>Complete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752920" y="5981000"/>
            <a:ext cx="260000" cy="150000"/>
          </a:xfrm>
          <a:prstGeom prst="roundRect">
            <a:avLst/>
          </a:prstGeom>
          <a:solidFill>
            <a:srgbClr val="0C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72920" y="5956000"/>
            <a:ext cx="1300000" cy="2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B6B82"/>
                </a:solidFill>
              </a:rPr>
              <a:t>Remaining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102920" y="5981000"/>
            <a:ext cx="260000" cy="150000"/>
          </a:xfrm>
          <a:prstGeom prst="roundRect">
            <a:avLst/>
          </a:prstGeom>
          <a:solidFill>
            <a:srgbClr val="CB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422920" y="5956000"/>
            <a:ext cx="1300000" cy="2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B6B82"/>
                </a:solidFill>
              </a:rPr>
              <a:t>Outside SOW scope</a:t>
            </a:r>
          </a:p>
        </p:txBody>
      </p:sp>
      <p:sp>
        <p:nvSpPr>
          <p:cNvPr id="82" name="Diamond 81"/>
          <p:cNvSpPr/>
          <p:nvPr/>
        </p:nvSpPr>
        <p:spPr>
          <a:xfrm>
            <a:off x="4952920" y="5981000"/>
            <a:ext cx="150000" cy="150000"/>
          </a:xfrm>
          <a:prstGeom prst="diamond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162920" y="5956000"/>
            <a:ext cx="2200000" cy="2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B6B82"/>
                </a:solidFill>
              </a:rPr>
              <a:t>Demo / handover milestone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02920" y="5956000"/>
            <a:ext cx="4201400" cy="2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5B6B82"/>
                </a:solidFill>
              </a:rPr>
              <a:t>Bars show baselined plan dates; dashed line is the revised target</a:t>
            </a:r>
          </a:p>
        </p:txBody>
      </p:sp>
      <p:sp>
        <p:nvSpPr>
          <p:cNvPr id="85" name="Ahead callout"/>
          <p:cNvSpPr/>
          <p:nvPr/>
        </p:nvSpPr>
        <p:spPr>
          <a:xfrm>
            <a:off x="7900000" y="1040000"/>
            <a:ext cx="3804320" cy="9300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Ahead label"/>
          <p:cNvSpPr txBox="1"/>
          <p:nvPr/>
        </p:nvSpPr>
        <p:spPr>
          <a:xfrm>
            <a:off x="8100000" y="1100000"/>
            <a:ext cx="345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7FB8FF"/>
                </a:solidFill>
              </a:rPr>
              <a:t>AHEAD OF PLAN</a:t>
            </a:r>
          </a:p>
        </p:txBody>
      </p:sp>
      <p:sp>
        <p:nvSpPr>
          <p:cNvPr id="87" name="Ahead text"/>
          <p:cNvSpPr txBox="1"/>
          <p:nvPr/>
        </p:nvSpPr>
        <p:spPr>
          <a:xfrm>
            <a:off x="8100000" y="1382278"/>
            <a:ext cx="3450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AI agents cut our timeline by </a:t>
            </a:r>
            <a:r>
              <a:rPr lang="en-US" sz="1400" b="1">
                <a:solidFill>
                  <a:srgbClr val="FFFFFF"/>
                </a:solidFill>
              </a:rPr>
              <a:t>34</a:t>
            </a:r>
            <a:r>
              <a:rPr sz="1400" b="1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88" name="Ahead detail"/>
          <p:cNvSpPr txBox="1"/>
          <p:nvPr/>
        </p:nvSpPr>
        <p:spPr>
          <a:xfrm>
            <a:off x="8100000" y="1690361"/>
            <a:ext cx="34500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CBD8EE"/>
                </a:solidFill>
              </a:rPr>
              <a:t>34 planned business days down to </a:t>
            </a:r>
            <a:r>
              <a:rPr lang="en-US" sz="1100">
                <a:solidFill>
                  <a:srgbClr val="CBD8EE"/>
                </a:solidFill>
              </a:rPr>
              <a:t>23</a:t>
            </a:r>
            <a:endParaRPr sz="1100" b="0">
              <a:solidFill>
                <a:srgbClr val="CBD8EE"/>
              </a:solidFill>
            </a:endParaRPr>
          </a:p>
        </p:txBody>
      </p:sp>
      <p:cxnSp>
        <p:nvCxnSpPr>
          <p:cNvPr id="89" name="Target line Oct 10"/>
          <p:cNvCxnSpPr/>
          <p:nvPr/>
        </p:nvCxnSpPr>
        <p:spPr>
          <a:xfrm>
            <a:off x="8253620" y="2440000"/>
            <a:ext cx="0" cy="3406000"/>
          </a:xfrm>
          <a:prstGeom prst="line">
            <a:avLst/>
          </a:prstGeom>
          <a:ln w="25400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arget label"/>
          <p:cNvSpPr/>
          <p:nvPr/>
        </p:nvSpPr>
        <p:spPr>
          <a:xfrm>
            <a:off x="8303620" y="5615000"/>
            <a:ext cx="1900000" cy="200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Target: all work done Oct </a:t>
            </a:r>
            <a:r>
              <a:rPr lang="en-US" sz="1000" b="1">
                <a:solidFill>
                  <a:srgbClr val="FFFFFF"/>
                </a:solidFill>
              </a:rPr>
              <a:t>12</a:t>
            </a:r>
            <a:endParaRPr sz="10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060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E7F0FE"/>
          </a:solidFill>
          <a:ln w="12700">
            <a:solidFill>
              <a:srgbClr val="E7F0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657600"/>
            <a:ext cx="5029200" cy="5029200"/>
          </a:xfrm>
          <a:prstGeom prst="ellipse">
            <a:avLst/>
          </a:prstGeom>
          <a:solidFill>
            <a:srgbClr val="E7F0FE"/>
          </a:solidFill>
          <a:ln w="12700">
            <a:solidFill>
              <a:srgbClr val="E7F0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4389120"/>
            <a:ext cx="3657600" cy="3657600"/>
          </a:xfrm>
          <a:prstGeom prst="ellipse">
            <a:avLst/>
          </a:prstGeom>
          <a:solidFill>
            <a:srgbClr val="D6E6FC"/>
          </a:solidFill>
          <a:ln w="12700">
            <a:solidFill>
              <a:srgbClr val="D6E6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50140" y="2450592"/>
            <a:ext cx="0" cy="310896"/>
          </a:xfrm>
          <a:prstGeom prst="line">
            <a:avLst/>
          </a:prstGeom>
          <a:noFill/>
          <a:ln w="12700">
            <a:solidFill>
              <a:srgbClr val="C5D0E0"/>
            </a:solidFill>
            <a:prstDash val="solid"/>
          </a:ln>
        </p:spPr>
      </p:sp>
      <p:pic>
        <p:nvPicPr>
          <p:cNvPr id="7" name="Image 1" descr="Microsof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028" y="2482596"/>
            <a:ext cx="1177625" cy="24688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721541" y="2450592"/>
            <a:ext cx="0" cy="310896"/>
          </a:xfrm>
          <a:prstGeom prst="line">
            <a:avLst/>
          </a:prstGeom>
          <a:noFill/>
          <a:ln w="12700">
            <a:solidFill>
              <a:srgbClr val="C5D0E0"/>
            </a:solidFill>
            <a:prstDash val="solid"/>
          </a:ln>
        </p:spPr>
      </p:sp>
      <p:pic>
        <p:nvPicPr>
          <p:cNvPr id="9" name="Image 2" descr="TechIO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429" y="2467916"/>
            <a:ext cx="1097280" cy="27624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0" y="3520440"/>
            <a:ext cx="12191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/>
          </a:p>
        </p:txBody>
      </p:sp>
      <p:sp>
        <p:nvSpPr>
          <p:cNvPr id="11" name="Text 6"/>
          <p:cNvSpPr txBox="1"/>
          <p:nvPr/>
        </p:nvSpPr>
        <p:spPr>
          <a:xfrm>
            <a:off x="0" y="42519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1500"/>
          </a:p>
        </p:txBody>
      </p:sp>
      <p:pic>
        <p:nvPicPr>
          <p:cNvPr id="13" name="Picture 12" descr="MASC logo">
            <a:extLst>
              <a:ext uri="{FF2B5EF4-FFF2-40B4-BE49-F238E27FC236}">
                <a16:creationId xmlns:a16="http://schemas.microsoft.com/office/drawing/2014/main" id="{D7B40DE0-0364-6427-644B-3F7BD96DA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4956" y="2467371"/>
            <a:ext cx="873760" cy="2724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DCF8BA87356B459E0E10ED2AD12F01" ma:contentTypeVersion="3" ma:contentTypeDescription="Create a new document." ma:contentTypeScope="" ma:versionID="4aece24ab03707b398cadbd48958c1e7">
  <xsd:schema xmlns:xsd="http://www.w3.org/2001/XMLSchema" xmlns:xs="http://www.w3.org/2001/XMLSchema" xmlns:p="http://schemas.microsoft.com/office/2006/metadata/properties" xmlns:ns2="2c66355e-824d-4e1a-8cc5-9aa03e7578e6" targetNamespace="http://schemas.microsoft.com/office/2006/metadata/properties" ma:root="true" ma:fieldsID="ab9e9bfedc5d30c5c9c9580d2424481f" ns2:_="">
    <xsd:import namespace="2c66355e-824d-4e1a-8cc5-9aa03e7578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66355e-824d-4e1a-8cc5-9aa03e7578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8E3B52-B7FA-4EF6-B40B-2002630B4E77}">
  <ds:schemaRefs>
    <ds:schemaRef ds:uri="2c66355e-824d-4e1a-8cc5-9aa03e7578e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CA614-AB84-42D4-BE77-8F33025F9AC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290DED4-38E6-41E4-8E73-D2E9281F0A8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Techiosoft Services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BCLC Reporting Modernization – High-Level Scope and Next Step</dc:title>
  <dc:subject>PptxGenJS Presentation</dc:subject>
  <dc:creator>TechIO</dc:creator>
  <cp:revision>1</cp:revision>
  <dcterms:created xsi:type="dcterms:W3CDTF">2026-09-18T20:05:24Z</dcterms:created>
  <dcterms:modified xsi:type="dcterms:W3CDTF">2026-10-01T21:04:43Z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0x01010075DCF8BA87356B459E0E10ED2AD12F01</vt:lpwstr>
  </property>
</Properties>
</file>